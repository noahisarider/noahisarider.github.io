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302" r:id="rId2"/>
    <p:sldId id="303" r:id="rId3"/>
    <p:sldId id="304" r:id="rId4"/>
    <p:sldId id="305" r:id="rId5"/>
    <p:sldId id="306" r:id="rId6"/>
    <p:sldId id="308" r:id="rId7"/>
    <p:sldId id="307" r:id="rId8"/>
    <p:sldId id="309" r:id="rId9"/>
    <p:sldId id="310" r:id="rId10"/>
    <p:sldId id="295" r:id="rId11"/>
    <p:sldId id="313" r:id="rId12"/>
    <p:sldId id="299" r:id="rId13"/>
    <p:sldId id="312" r:id="rId14"/>
    <p:sldId id="311" r:id="rId15"/>
    <p:sldId id="300" r:id="rId16"/>
    <p:sldId id="273" r:id="rId17"/>
    <p:sldId id="271" r:id="rId18"/>
    <p:sldId id="301" r:id="rId19"/>
    <p:sldId id="256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>
        <p:scale>
          <a:sx n="65" d="100"/>
          <a:sy n="65" d="100"/>
        </p:scale>
        <p:origin x="848" y="7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D84F-1624-4992-9323-8D9F1E6329CC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299089-9E78-4962-A28C-3535003D13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4858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0623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2026/9/7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noahisarider.codeberg.page/oblivio/index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noahisarider.codeberg.page/oblivio/minimal-archive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eek-rss.vercel.app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ook-club-2000.vercel.app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filmclube-cc.vercel.app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ailor-draft.vercel.app/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museum-of-failures.vercel.app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noahisarider.codeberg.page/NEOWEST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hyperlink" Target="https://noahisarider.codeberg.page/Platonia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079EB1-86E2-958B-7A08-F9A371CBB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3464"/>
            <a:ext cx="12192000" cy="629107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3257B27-DF62-2AB7-AD5A-ACEE6E6FBC12}"/>
              </a:ext>
            </a:extLst>
          </p:cNvPr>
          <p:cNvSpPr txBox="1"/>
          <p:nvPr/>
        </p:nvSpPr>
        <p:spPr>
          <a:xfrm>
            <a:off x="52466" y="6574536"/>
            <a:ext cx="3372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>
                <a:hlinkClick r:id="rId3"/>
              </a:rPr>
              <a:t>oblivion is freedom</a:t>
            </a:r>
            <a:endParaRPr lang="zh-CN" altLang="en-US" sz="1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D0D59E-F137-CE7F-F4D3-E6357ABB8048}"/>
              </a:ext>
            </a:extLst>
          </p:cNvPr>
          <p:cNvSpPr txBox="1"/>
          <p:nvPr/>
        </p:nvSpPr>
        <p:spPr>
          <a:xfrm>
            <a:off x="0" y="0"/>
            <a:ext cx="3372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/>
              <a:t>PART I </a:t>
            </a:r>
            <a:r>
              <a:rPr lang="zh-CN" altLang="en-US" sz="1400" b="1"/>
              <a:t>在线艺术展示</a:t>
            </a:r>
          </a:p>
        </p:txBody>
      </p:sp>
    </p:spTree>
    <p:extLst>
      <p:ext uri="{BB962C8B-B14F-4D97-AF65-F5344CB8AC3E}">
        <p14:creationId xmlns:p14="http://schemas.microsoft.com/office/powerpoint/2010/main" val="1675898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C5DB1F-09C6-562A-1D83-96FF377694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4747"/>
            <a:ext cx="12192000" cy="62685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D6FEA5-E340-3B83-2FB7-0FCEB8DB0863}"/>
              </a:ext>
            </a:extLst>
          </p:cNvPr>
          <p:cNvSpPr txBox="1"/>
          <p:nvPr/>
        </p:nvSpPr>
        <p:spPr>
          <a:xfrm>
            <a:off x="52466" y="6574536"/>
            <a:ext cx="3372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>
                <a:hlinkClick r:id="rId3"/>
              </a:rPr>
              <a:t>Selected Works | oblivion is freedom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11997205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E15C91-116D-4B64-DD1E-624709FF5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5158"/>
            <a:ext cx="12192000" cy="62676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8A1BE77-400A-675B-EEAD-50BCFDC1D640}"/>
              </a:ext>
            </a:extLst>
          </p:cNvPr>
          <p:cNvSpPr txBox="1"/>
          <p:nvPr/>
        </p:nvSpPr>
        <p:spPr>
          <a:xfrm>
            <a:off x="52466" y="6574536"/>
            <a:ext cx="33727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>
                <a:hlinkClick r:id="rId3"/>
              </a:rPr>
              <a:t>GeekRSS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2839498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CB2A37-74CF-7BDB-244F-629AFADF4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8353"/>
            <a:ext cx="12192000" cy="62212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2203B5-6D9A-8DAB-395C-012309C03278}"/>
              </a:ext>
            </a:extLst>
          </p:cNvPr>
          <p:cNvSpPr txBox="1"/>
          <p:nvPr/>
        </p:nvSpPr>
        <p:spPr>
          <a:xfrm>
            <a:off x="52465" y="6574536"/>
            <a:ext cx="48193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>
                <a:hlinkClick r:id="rId3"/>
              </a:rPr>
              <a:t>BookClub 2000 - Co-reading Club &amp; Reading Log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950981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749D85-E912-B636-809E-67F175119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1495"/>
            <a:ext cx="12192000" cy="627500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7C806B-180F-5446-8D6D-27DDED4881E7}"/>
              </a:ext>
            </a:extLst>
          </p:cNvPr>
          <p:cNvSpPr txBox="1"/>
          <p:nvPr/>
        </p:nvSpPr>
        <p:spPr>
          <a:xfrm>
            <a:off x="52465" y="6574536"/>
            <a:ext cx="48193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>
                <a:hlinkClick r:id="rId3"/>
              </a:rPr>
              <a:t>Clube · 影协放映助手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4273001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74E3D8A-36C8-EC56-4B7D-3B566C4F6E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764" y="219806"/>
            <a:ext cx="7285220" cy="37635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05E6CF-4587-BB93-6659-B1C4F691582F}"/>
              </a:ext>
            </a:extLst>
          </p:cNvPr>
          <p:cNvSpPr txBox="1"/>
          <p:nvPr/>
        </p:nvSpPr>
        <p:spPr>
          <a:xfrm>
            <a:off x="52465" y="6574536"/>
            <a:ext cx="48193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>
                <a:hlinkClick r:id="rId3"/>
              </a:rPr>
              <a:t>Sailor Draft — Screenwriting, unadorned</a:t>
            </a:r>
            <a:endParaRPr lang="zh-CN" altLang="en-US" sz="16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605686-C756-2C26-716A-FAAAE0CEB1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7521" y="2301470"/>
            <a:ext cx="8054715" cy="414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950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11D5F5-B089-8A93-759B-45F13BB557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9211"/>
            <a:ext cx="12192000" cy="623957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E7A7720-C357-41D7-75CF-E630790685FB}"/>
              </a:ext>
            </a:extLst>
          </p:cNvPr>
          <p:cNvSpPr txBox="1"/>
          <p:nvPr/>
        </p:nvSpPr>
        <p:spPr>
          <a:xfrm>
            <a:off x="52465" y="6574536"/>
            <a:ext cx="48193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>
                <a:hlinkClick r:id="rId3"/>
              </a:rPr>
              <a:t>失败案例博物馆 · MUSEUM OF AI FAILURES</a:t>
            </a:r>
            <a:endParaRPr lang="zh-CN" altLang="en-US" sz="1600"/>
          </a:p>
        </p:txBody>
      </p:sp>
    </p:spTree>
    <p:extLst>
      <p:ext uri="{BB962C8B-B14F-4D97-AF65-F5344CB8AC3E}">
        <p14:creationId xmlns:p14="http://schemas.microsoft.com/office/powerpoint/2010/main" val="4217662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F39257-8216-226D-1E93-9B182EC9FF7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254" y="503919"/>
            <a:ext cx="5373974" cy="27240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A3A4E2-7C3E-EA98-3EC5-B49AA6464015}"/>
              </a:ext>
            </a:extLst>
          </p:cNvPr>
          <p:cNvSpPr txBox="1"/>
          <p:nvPr/>
        </p:nvSpPr>
        <p:spPr>
          <a:xfrm>
            <a:off x="52465" y="6574536"/>
            <a:ext cx="48193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>
                <a:hlinkClick r:id="rId3"/>
              </a:rPr>
              <a:t>NEOWEST</a:t>
            </a:r>
            <a:endParaRPr lang="zh-CN" altLang="en-US" sz="16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E80C3D-94C3-5396-4936-A9FD405CB3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54" y="3429000"/>
            <a:ext cx="5373974" cy="27608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334F19-20A2-3CA7-84B0-1D804BA0E3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9824" y="503919"/>
            <a:ext cx="5292628" cy="272408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E5709B8-7A53-4DB0-C105-2EA74D1166AA}"/>
              </a:ext>
            </a:extLst>
          </p:cNvPr>
          <p:cNvPicPr>
            <a:picLocks/>
          </p:cNvPicPr>
          <p:nvPr/>
        </p:nvPicPr>
        <p:blipFill>
          <a:blip r:embed="rId6"/>
          <a:srcRect r="2513"/>
          <a:stretch>
            <a:fillRect/>
          </a:stretch>
        </p:blipFill>
        <p:spPr>
          <a:xfrm>
            <a:off x="6379825" y="3429000"/>
            <a:ext cx="5292628" cy="2760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505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4DF516-4DE6-4AF7-9F31-C00B0ABEAD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614" y="224299"/>
            <a:ext cx="7161027" cy="36996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BACB5A-B3DE-3A5E-793F-A079EE98BE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3075" y="2934032"/>
            <a:ext cx="7198269" cy="36996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DADA03-E654-EB43-2763-C6DA6EFCFFFA}"/>
              </a:ext>
            </a:extLst>
          </p:cNvPr>
          <p:cNvSpPr txBox="1"/>
          <p:nvPr/>
        </p:nvSpPr>
        <p:spPr>
          <a:xfrm>
            <a:off x="52465" y="6574536"/>
            <a:ext cx="48193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>
                <a:hlinkClick r:id="rId4"/>
              </a:rPr>
              <a:t>Home | platonia</a:t>
            </a:r>
            <a:endParaRPr lang="zh-CN" altLang="en-US" sz="16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B33EF7-6F85-B779-AC5A-AD6F67A04E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614" y="4266076"/>
            <a:ext cx="3933569" cy="20255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38E099-EE55-A68B-A86F-1EDAD2C6C2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2940" y="462118"/>
            <a:ext cx="3889446" cy="199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872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3248;p52"/>
          <p:cNvSpPr/>
          <p:nvPr/>
        </p:nvSpPr>
        <p:spPr>
          <a:xfrm>
            <a:off x="75565" y="3614420"/>
            <a:ext cx="1428115" cy="2232025"/>
          </a:xfrm>
          <a:prstGeom prst="roundRect">
            <a:avLst>
              <a:gd name="adj" fmla="val 11095"/>
            </a:avLst>
          </a:prstGeom>
          <a:solidFill>
            <a:srgbClr val="F3F3F4"/>
          </a:solidFill>
          <a:ln w="19050">
            <a:solidFill>
              <a:schemeClr val="tx1"/>
            </a:solidFill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Google Shape;3248;p52"/>
          <p:cNvSpPr/>
          <p:nvPr/>
        </p:nvSpPr>
        <p:spPr>
          <a:xfrm>
            <a:off x="1698161" y="917416"/>
            <a:ext cx="10348353" cy="4929631"/>
          </a:xfrm>
          <a:prstGeom prst="roundRect">
            <a:avLst>
              <a:gd name="adj" fmla="val 11095"/>
            </a:avLst>
          </a:prstGeom>
          <a:solidFill>
            <a:srgbClr val="F3F3F4"/>
          </a:solidFill>
          <a:ln w="19050">
            <a:solidFill>
              <a:schemeClr val="tx1"/>
            </a:solidFill>
          </a:ln>
        </p:spPr>
        <p:txBody>
          <a:bodyPr spcFirstLastPara="1" wrap="square" lIns="121898" tIns="121898" rIns="121898" bIns="121898" anchor="ctr" anchorCtr="0">
            <a:noAutofit/>
          </a:bodyPr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圆角矩形 4"/>
          <p:cNvSpPr/>
          <p:nvPr/>
        </p:nvSpPr>
        <p:spPr>
          <a:xfrm>
            <a:off x="3838328" y="1477379"/>
            <a:ext cx="7957617" cy="4129035"/>
          </a:xfrm>
          <a:prstGeom prst="roundRect">
            <a:avLst/>
          </a:prstGeom>
          <a:solidFill>
            <a:srgbClr val="DBEAEC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" name="图片 1" descr="学生人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0882" y="1291414"/>
            <a:ext cx="663643" cy="663643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0" y="1998441"/>
            <a:ext cx="1045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Multi Agent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7" name="图片 1" descr="学生人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50047" y="1712118"/>
            <a:ext cx="663643" cy="663643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659165" y="2419145"/>
            <a:ext cx="1045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Planner Agent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874811" y="981467"/>
            <a:ext cx="2411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Plan-Execute Workflow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" name="图片 1" descr="学生人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70520" y="1722550"/>
            <a:ext cx="663643" cy="663643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588855" y="2413267"/>
            <a:ext cx="1045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Execute Agent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2" name="图片 1" descr="学生人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72017" y="1722171"/>
            <a:ext cx="663643" cy="663643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781135" y="2429198"/>
            <a:ext cx="1045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Python Agent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1" descr="学生人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54537" y="1722171"/>
            <a:ext cx="663643" cy="663643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5663655" y="2429198"/>
            <a:ext cx="1045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Document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Agent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6" name="图片 1" descr="学生人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79714" y="1724460"/>
            <a:ext cx="663643" cy="663643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7488832" y="2431487"/>
            <a:ext cx="1045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Stock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 Agent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8" name="图片 1" descr="学生人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79856" y="3535219"/>
            <a:ext cx="663643" cy="663643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3788974" y="4242246"/>
            <a:ext cx="1045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Browser Agent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0" name="图片 1" descr="学生人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22725" y="1716576"/>
            <a:ext cx="663643" cy="663643"/>
          </a:xfrm>
          <a:prstGeom prst="rect">
            <a:avLst/>
          </a:prstGeom>
        </p:spPr>
      </p:pic>
      <p:sp>
        <p:nvSpPr>
          <p:cNvPr id="21" name="文本框 20"/>
          <p:cNvSpPr txBox="1"/>
          <p:nvPr/>
        </p:nvSpPr>
        <p:spPr>
          <a:xfrm>
            <a:off x="9358097" y="2423603"/>
            <a:ext cx="11883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Multi-Modal Agent</a:t>
            </a: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圆角矩形 3"/>
          <p:cNvSpPr/>
          <p:nvPr/>
        </p:nvSpPr>
        <p:spPr>
          <a:xfrm>
            <a:off x="4922011" y="3132842"/>
            <a:ext cx="6616665" cy="2240728"/>
          </a:xfrm>
          <a:prstGeom prst="roundRect">
            <a:avLst/>
          </a:prstGeom>
          <a:solidFill>
            <a:srgbClr val="F1DEB8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709061" y="3180470"/>
            <a:ext cx="2829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Browser Workflow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圆角矩形 5"/>
          <p:cNvSpPr/>
          <p:nvPr/>
        </p:nvSpPr>
        <p:spPr>
          <a:xfrm>
            <a:off x="5373589" y="3681024"/>
            <a:ext cx="1403321" cy="834636"/>
          </a:xfrm>
          <a:prstGeom prst="roundRect">
            <a:avLst/>
          </a:prstGeom>
          <a:solidFill>
            <a:srgbClr val="EFCEC3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Browser Agent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圆角矩形 79"/>
          <p:cNvSpPr/>
          <p:nvPr/>
        </p:nvSpPr>
        <p:spPr>
          <a:xfrm>
            <a:off x="7541923" y="3676383"/>
            <a:ext cx="1361285" cy="83463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Proxy Agent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圆角矩形 5"/>
          <p:cNvSpPr/>
          <p:nvPr/>
        </p:nvSpPr>
        <p:spPr>
          <a:xfrm>
            <a:off x="9690642" y="3678079"/>
            <a:ext cx="1403321" cy="834636"/>
          </a:xfrm>
          <a:prstGeom prst="roundRect">
            <a:avLst/>
          </a:prstGeom>
          <a:solidFill>
            <a:srgbClr val="EFCEC3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MCP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箭头: 右 27"/>
          <p:cNvSpPr/>
          <p:nvPr/>
        </p:nvSpPr>
        <p:spPr>
          <a:xfrm>
            <a:off x="1045660" y="2063501"/>
            <a:ext cx="278512" cy="1779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9" name="箭头: 右 28"/>
          <p:cNvSpPr/>
          <p:nvPr/>
        </p:nvSpPr>
        <p:spPr>
          <a:xfrm>
            <a:off x="2530612" y="1992761"/>
            <a:ext cx="278512" cy="1779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0" name="箭头: 右 29"/>
          <p:cNvSpPr/>
          <p:nvPr/>
        </p:nvSpPr>
        <p:spPr>
          <a:xfrm>
            <a:off x="3471465" y="1992761"/>
            <a:ext cx="278512" cy="1779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箭头: 右 30"/>
          <p:cNvSpPr/>
          <p:nvPr/>
        </p:nvSpPr>
        <p:spPr>
          <a:xfrm>
            <a:off x="4602892" y="3804834"/>
            <a:ext cx="278512" cy="1779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" name="圆角矩形 623"/>
          <p:cNvSpPr/>
          <p:nvPr/>
        </p:nvSpPr>
        <p:spPr>
          <a:xfrm>
            <a:off x="4692853" y="1932592"/>
            <a:ext cx="1018452" cy="7174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Write and Execute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Python Code</a:t>
            </a:r>
            <a:endParaRPr kumimoji="0" lang="en-US" altLang="zh-CN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圆角矩形 623"/>
          <p:cNvSpPr/>
          <p:nvPr/>
        </p:nvSpPr>
        <p:spPr>
          <a:xfrm>
            <a:off x="6590917" y="1932565"/>
            <a:ext cx="1018452" cy="7174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Read and Analyze Documents</a:t>
            </a:r>
          </a:p>
        </p:txBody>
      </p:sp>
      <p:sp>
        <p:nvSpPr>
          <p:cNvPr id="35" name="圆角矩形 623"/>
          <p:cNvSpPr/>
          <p:nvPr/>
        </p:nvSpPr>
        <p:spPr>
          <a:xfrm>
            <a:off x="8394124" y="1928661"/>
            <a:ext cx="1018452" cy="7174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Use API to Monitor  The Stock Market</a:t>
            </a:r>
          </a:p>
        </p:txBody>
      </p:sp>
      <p:sp>
        <p:nvSpPr>
          <p:cNvPr id="36" name="圆角矩形 623"/>
          <p:cNvSpPr/>
          <p:nvPr/>
        </p:nvSpPr>
        <p:spPr>
          <a:xfrm>
            <a:off x="10520224" y="1928661"/>
            <a:ext cx="1018452" cy="717459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Perform Multi-Modal Tasks Like Analyzing A Video</a:t>
            </a:r>
          </a:p>
        </p:txBody>
      </p:sp>
      <p:sp>
        <p:nvSpPr>
          <p:cNvPr id="37" name="箭头: 上弧形 36"/>
          <p:cNvSpPr/>
          <p:nvPr/>
        </p:nvSpPr>
        <p:spPr>
          <a:xfrm>
            <a:off x="6851712" y="3773223"/>
            <a:ext cx="616495" cy="177971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箭头: 上弧形 37"/>
          <p:cNvSpPr/>
          <p:nvPr/>
        </p:nvSpPr>
        <p:spPr>
          <a:xfrm rot="10800000">
            <a:off x="6831923" y="4145560"/>
            <a:ext cx="616495" cy="177971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3" name="箭头: 上弧形 42"/>
          <p:cNvSpPr/>
          <p:nvPr/>
        </p:nvSpPr>
        <p:spPr>
          <a:xfrm>
            <a:off x="9010628" y="3773223"/>
            <a:ext cx="616495" cy="177971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箭头: 上弧形 43"/>
          <p:cNvSpPr/>
          <p:nvPr/>
        </p:nvSpPr>
        <p:spPr>
          <a:xfrm rot="10800000">
            <a:off x="8990839" y="4145560"/>
            <a:ext cx="616495" cy="177971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圆角矩形 6"/>
          <p:cNvSpPr/>
          <p:nvPr/>
        </p:nvSpPr>
        <p:spPr>
          <a:xfrm>
            <a:off x="7131882" y="4713897"/>
            <a:ext cx="2174161" cy="559825"/>
          </a:xfrm>
          <a:prstGeom prst="roundRect">
            <a:avLst/>
          </a:prstGeom>
          <a:solidFill>
            <a:srgbClr val="E89B58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Success-&gt;Compress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Fail-&gt;Retry</a:t>
            </a: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" name="图片 1" descr="计划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5325" y="3089910"/>
            <a:ext cx="567055" cy="567055"/>
          </a:xfrm>
          <a:prstGeom prst="rect">
            <a:avLst/>
          </a:prstGeom>
        </p:spPr>
      </p:pic>
      <p:pic>
        <p:nvPicPr>
          <p:cNvPr id="3" name="图片 2" descr="扳手螺丝刀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55595" y="3120390"/>
            <a:ext cx="536575" cy="536575"/>
          </a:xfrm>
          <a:prstGeom prst="rect">
            <a:avLst/>
          </a:prstGeom>
        </p:spPr>
      </p:pic>
      <p:sp>
        <p:nvSpPr>
          <p:cNvPr id="32" name="圆角矩形 623"/>
          <p:cNvSpPr/>
          <p:nvPr/>
        </p:nvSpPr>
        <p:spPr>
          <a:xfrm>
            <a:off x="1965325" y="3950970"/>
            <a:ext cx="1427480" cy="48387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Draw A Plan</a:t>
            </a:r>
          </a:p>
        </p:txBody>
      </p:sp>
      <p:sp>
        <p:nvSpPr>
          <p:cNvPr id="39" name="箭头: 右 30"/>
          <p:cNvSpPr/>
          <p:nvPr/>
        </p:nvSpPr>
        <p:spPr>
          <a:xfrm rot="5400000">
            <a:off x="2534697" y="4565564"/>
            <a:ext cx="278512" cy="1779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0" name="圆角矩形 623"/>
          <p:cNvSpPr/>
          <p:nvPr/>
        </p:nvSpPr>
        <p:spPr>
          <a:xfrm>
            <a:off x="1965325" y="4889500"/>
            <a:ext cx="1427480" cy="48387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Do The Plan</a:t>
            </a:r>
          </a:p>
        </p:txBody>
      </p:sp>
      <p:pic>
        <p:nvPicPr>
          <p:cNvPr id="42" name="图片 1" descr="学生人员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8217" y="3771089"/>
            <a:ext cx="663643" cy="663643"/>
          </a:xfrm>
          <a:prstGeom prst="rect">
            <a:avLst/>
          </a:prstGeom>
        </p:spPr>
      </p:pic>
      <p:sp>
        <p:nvSpPr>
          <p:cNvPr id="46" name="圆角矩形 5"/>
          <p:cNvSpPr/>
          <p:nvPr/>
        </p:nvSpPr>
        <p:spPr>
          <a:xfrm>
            <a:off x="267335" y="4603750"/>
            <a:ext cx="1045210" cy="483870"/>
          </a:xfrm>
          <a:prstGeom prst="roundRect">
            <a:avLst/>
          </a:prstGeom>
          <a:solidFill>
            <a:srgbClr val="EFCEC3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Short-Term Memory</a:t>
            </a:r>
          </a:p>
        </p:txBody>
      </p:sp>
      <p:sp>
        <p:nvSpPr>
          <p:cNvPr id="47" name="圆角矩形 79"/>
          <p:cNvSpPr/>
          <p:nvPr/>
        </p:nvSpPr>
        <p:spPr>
          <a:xfrm>
            <a:off x="267335" y="5218430"/>
            <a:ext cx="1045210" cy="44386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lvl="0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lvl="1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lvl="2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lvl="3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lvl="4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lvl="5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lvl="6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lvl="7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lvl="8" indent="0" algn="l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Long-Term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Memory</a:t>
            </a:r>
          </a:p>
        </p:txBody>
      </p:sp>
      <p:sp>
        <p:nvSpPr>
          <p:cNvPr id="49" name="箭头: 右 27"/>
          <p:cNvSpPr/>
          <p:nvPr/>
        </p:nvSpPr>
        <p:spPr>
          <a:xfrm>
            <a:off x="1045660" y="1711711"/>
            <a:ext cx="278512" cy="1779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0" name="箭头: 右 27"/>
          <p:cNvSpPr/>
          <p:nvPr/>
        </p:nvSpPr>
        <p:spPr>
          <a:xfrm>
            <a:off x="1045660" y="1299596"/>
            <a:ext cx="278512" cy="1779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75565" y="839470"/>
            <a:ext cx="15455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Asynchrounous Threads Tasks</a:t>
            </a:r>
          </a:p>
        </p:txBody>
      </p:sp>
      <p:sp>
        <p:nvSpPr>
          <p:cNvPr id="53" name="圆角矩形 4"/>
          <p:cNvSpPr/>
          <p:nvPr/>
        </p:nvSpPr>
        <p:spPr>
          <a:xfrm>
            <a:off x="53340" y="2431415"/>
            <a:ext cx="1450340" cy="1019810"/>
          </a:xfrm>
          <a:prstGeom prst="roundRect">
            <a:avLst/>
          </a:prstGeom>
          <a:solidFill>
            <a:srgbClr val="DBEAEC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Power Pools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微软雅黑" panose="020B0503020204020204" pitchFamily="34" charset="-122"/>
                <a:cs typeface="+mn-cs"/>
              </a:rPr>
              <a:t>Register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D8A39C2-25ED-91D7-2AA0-C33626E51A7F}"/>
              </a:ext>
            </a:extLst>
          </p:cNvPr>
          <p:cNvSpPr txBox="1"/>
          <p:nvPr/>
        </p:nvSpPr>
        <p:spPr>
          <a:xfrm>
            <a:off x="0" y="0"/>
            <a:ext cx="33727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/>
              <a:t>PART II </a:t>
            </a:r>
            <a:r>
              <a:rPr lang="zh-CN" altLang="en-US" sz="1400" b="1"/>
              <a:t>课程作业与平面设计展示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3998C5-ABF0-8502-B36E-2758B36F073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5488" y="127819"/>
            <a:ext cx="7941024" cy="6602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028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451B1-F4F5-CF96-73DE-32D80616F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2F013F76-2511-7FAE-8810-73A517684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721" y="172350"/>
            <a:ext cx="5573322" cy="3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E18AAB-A868-10E8-9CF9-4224DB0BF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2350"/>
            <a:ext cx="5935804" cy="3144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288342-2206-1A84-7602-D6A85E3EB86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79" y="3496900"/>
            <a:ext cx="5586364" cy="3144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4D37CE-9078-CCE5-76C7-F24EBDF104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429000"/>
            <a:ext cx="5935804" cy="321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039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54D74D-B332-C500-CD46-6FDA06A5958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1252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 1">
            <a:extLst>
              <a:ext uri="{FF2B5EF4-FFF2-40B4-BE49-F238E27FC236}">
                <a16:creationId xmlns:a16="http://schemas.microsoft.com/office/drawing/2014/main" id="{45530CF7-B507-58CC-F2AF-BBB6298D685A}"/>
              </a:ext>
            </a:extLst>
          </p:cNvPr>
          <p:cNvPicPr>
            <a:picLocks/>
          </p:cNvPicPr>
          <p:nvPr/>
        </p:nvPicPr>
        <p:blipFill>
          <a:blip r:embed="rId2"/>
          <a:srcRect r="561"/>
          <a:stretch>
            <a:fillRect/>
          </a:stretch>
        </p:blipFill>
        <p:spPr>
          <a:xfrm>
            <a:off x="0" y="407644"/>
            <a:ext cx="8146134" cy="6450356"/>
          </a:xfrm>
          <a:prstGeom prst="rect">
            <a:avLst/>
          </a:prstGeom>
        </p:spPr>
      </p:pic>
      <p:sp>
        <p:nvSpPr>
          <p:cNvPr id="4" name="Freeform 37">
            <a:extLst>
              <a:ext uri="{FF2B5EF4-FFF2-40B4-BE49-F238E27FC236}">
                <a16:creationId xmlns:a16="http://schemas.microsoft.com/office/drawing/2014/main" id="{715451E4-0D72-14A4-30E4-A1E251AC8E0C}"/>
              </a:ext>
            </a:extLst>
          </p:cNvPr>
          <p:cNvSpPr/>
          <p:nvPr/>
        </p:nvSpPr>
        <p:spPr>
          <a:xfrm>
            <a:off x="8496171" y="407644"/>
            <a:ext cx="3489351" cy="2054942"/>
          </a:xfrm>
          <a:custGeom>
            <a:avLst/>
            <a:gdLst/>
            <a:ahLst/>
            <a:cxnLst/>
            <a:rect l="l" t="t" r="r" b="b"/>
            <a:pathLst>
              <a:path w="7214382" h="4516483">
                <a:moveTo>
                  <a:pt x="0" y="0"/>
                </a:moveTo>
                <a:lnTo>
                  <a:pt x="7214382" y="0"/>
                </a:lnTo>
                <a:lnTo>
                  <a:pt x="7214382" y="4516483"/>
                </a:lnTo>
                <a:lnTo>
                  <a:pt x="0" y="45164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6" name="Freeform 35">
            <a:extLst>
              <a:ext uri="{FF2B5EF4-FFF2-40B4-BE49-F238E27FC236}">
                <a16:creationId xmlns:a16="http://schemas.microsoft.com/office/drawing/2014/main" id="{A00AAAFD-32CB-DE10-2E1A-ACEAADF7FCED}"/>
              </a:ext>
            </a:extLst>
          </p:cNvPr>
          <p:cNvSpPr/>
          <p:nvPr/>
        </p:nvSpPr>
        <p:spPr>
          <a:xfrm>
            <a:off x="8496171" y="2386708"/>
            <a:ext cx="3489350" cy="2258637"/>
          </a:xfrm>
          <a:custGeom>
            <a:avLst/>
            <a:gdLst/>
            <a:ahLst/>
            <a:cxnLst/>
            <a:rect l="l" t="t" r="r" b="b"/>
            <a:pathLst>
              <a:path w="7214382" h="4506491">
                <a:moveTo>
                  <a:pt x="0" y="0"/>
                </a:moveTo>
                <a:lnTo>
                  <a:pt x="7214382" y="0"/>
                </a:lnTo>
                <a:lnTo>
                  <a:pt x="7214382" y="4506491"/>
                </a:lnTo>
                <a:lnTo>
                  <a:pt x="0" y="45064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38">
            <a:extLst>
              <a:ext uri="{FF2B5EF4-FFF2-40B4-BE49-F238E27FC236}">
                <a16:creationId xmlns:a16="http://schemas.microsoft.com/office/drawing/2014/main" id="{AA6898CB-8498-7FF3-675D-7D4C0164AA64}"/>
              </a:ext>
            </a:extLst>
          </p:cNvPr>
          <p:cNvSpPr/>
          <p:nvPr/>
        </p:nvSpPr>
        <p:spPr>
          <a:xfrm>
            <a:off x="8496171" y="4645345"/>
            <a:ext cx="3489350" cy="2054942"/>
          </a:xfrm>
          <a:custGeom>
            <a:avLst/>
            <a:gdLst/>
            <a:ahLst/>
            <a:cxnLst/>
            <a:rect l="l" t="t" r="r" b="b"/>
            <a:pathLst>
              <a:path w="7198421" h="4506491">
                <a:moveTo>
                  <a:pt x="0" y="0"/>
                </a:moveTo>
                <a:lnTo>
                  <a:pt x="7198421" y="0"/>
                </a:lnTo>
                <a:lnTo>
                  <a:pt x="7198421" y="4506491"/>
                </a:lnTo>
                <a:lnTo>
                  <a:pt x="0" y="45064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268105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5410" y="2753378"/>
            <a:ext cx="6881180" cy="607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349" b="1"/>
              <a:t>世界水深火热，而             在买鞋</a:t>
            </a:r>
          </a:p>
        </p:txBody>
      </p:sp>
      <p:pic>
        <p:nvPicPr>
          <p:cNvPr id="14" name="Picture 1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29" t="6370" r="15943" b="15446"/>
          <a:stretch>
            <a:fillRect/>
          </a:stretch>
        </p:blipFill>
        <p:spPr>
          <a:xfrm>
            <a:off x="6448599" y="2479487"/>
            <a:ext cx="1476195" cy="112754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中国广告协会评始祖鸟“炸山”事件：深感惋惜 - 经济观察网 － 专业财经新闻网站">
            <a:extLst>
              <a:ext uri="{FF2B5EF4-FFF2-40B4-BE49-F238E27FC236}">
                <a16:creationId xmlns:a16="http://schemas.microsoft.com/office/drawing/2014/main" id="{C472A9C8-A852-28E5-456E-42E6735A8BC7}"/>
              </a:ext>
            </a:extLst>
          </p:cNvPr>
          <p:cNvPicPr>
            <a:picLocks/>
          </p:cNvPicPr>
          <p:nvPr/>
        </p:nvPicPr>
        <p:blipFill>
          <a:blip r:embed="rId2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owEdges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5337" t="14021" r="4475"/>
          <a:stretch>
            <a:fillRect/>
          </a:stretch>
        </p:blipFill>
        <p:spPr>
          <a:xfrm>
            <a:off x="1" y="26582"/>
            <a:ext cx="12192000" cy="682099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7EBB2C8-B626-3AA7-0A5A-9AF2EC97A6CD}"/>
              </a:ext>
            </a:extLst>
          </p:cNvPr>
          <p:cNvSpPr txBox="1"/>
          <p:nvPr/>
        </p:nvSpPr>
        <p:spPr>
          <a:xfrm>
            <a:off x="351327" y="276578"/>
            <a:ext cx="3195391" cy="951286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791" b="1">
                <a:solidFill>
                  <a:schemeClr val="bg1"/>
                </a:solidFill>
              </a:rPr>
              <a:t>IT’S NOT SPORT</a:t>
            </a:r>
            <a:r>
              <a:rPr lang="zh-CN" altLang="en-US" sz="2791" b="1">
                <a:solidFill>
                  <a:schemeClr val="bg1"/>
                </a:solidFill>
              </a:rPr>
              <a:t>，</a:t>
            </a:r>
            <a:r>
              <a:rPr lang="en-US" altLang="zh-CN" sz="2791" b="1">
                <a:solidFill>
                  <a:schemeClr val="bg1"/>
                </a:solidFill>
              </a:rPr>
              <a:t>IT</a:t>
            </a:r>
            <a:r>
              <a:rPr lang="zh-CN" altLang="en-US" sz="2791" b="1">
                <a:solidFill>
                  <a:schemeClr val="bg1"/>
                </a:solidFill>
              </a:rPr>
              <a:t>’</a:t>
            </a:r>
            <a:r>
              <a:rPr lang="en-US" altLang="zh-CN" sz="2791" b="1">
                <a:solidFill>
                  <a:schemeClr val="bg1"/>
                </a:solidFill>
              </a:rPr>
              <a:t>S A BATTLE</a:t>
            </a:r>
            <a:endParaRPr lang="zh-CN" altLang="en-US" sz="2791" b="1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510422-E9A4-5ADE-E4C6-DEF41849ED01}"/>
              </a:ext>
            </a:extLst>
          </p:cNvPr>
          <p:cNvSpPr txBox="1"/>
          <p:nvPr/>
        </p:nvSpPr>
        <p:spPr>
          <a:xfrm>
            <a:off x="8921553" y="609405"/>
            <a:ext cx="2919120" cy="285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56" b="1">
                <a:solidFill>
                  <a:schemeClr val="bg1"/>
                </a:solidFill>
                <a:latin typeface="Sitka Display" pitchFamily="2" charset="0"/>
                <a:cs typeface="Times New Roman" panose="02020603050405020304" pitchFamily="18" charset="0"/>
              </a:rPr>
              <a:t>Spring Summer 26 by AntaGonists</a:t>
            </a:r>
            <a:endParaRPr lang="zh-CN" altLang="en-US" sz="1256" b="1">
              <a:solidFill>
                <a:schemeClr val="bg1"/>
              </a:solidFill>
              <a:latin typeface="Sitka Display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825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257" y="447413"/>
            <a:ext cx="12440868" cy="4633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9457"/>
              </a:lnSpc>
            </a:pPr>
            <a:r>
              <a:rPr lang="en-US" sz="24322" b="1" spc="-2529">
                <a:solidFill>
                  <a:srgbClr val="D5D5D5"/>
                </a:solidFill>
                <a:latin typeface="Poppins Bold" panose="00000800000000000000" pitchFamily="2" charset="0"/>
                <a:ea typeface="Poppins Ultra-Bold"/>
                <a:cs typeface="Poppins Bold" panose="00000800000000000000" pitchFamily="2" charset="0"/>
                <a:sym typeface="Poppins Ultra-Bold"/>
              </a:rPr>
              <a:t>SS</a:t>
            </a:r>
            <a:r>
              <a:rPr lang="en-US" sz="23233" b="1" spc="-2529">
                <a:solidFill>
                  <a:srgbClr val="D5D5D5"/>
                </a:solidFill>
                <a:latin typeface="Poppins Bold" panose="00000800000000000000" pitchFamily="2" charset="0"/>
                <a:ea typeface="Poppins Ultra-Bold"/>
                <a:cs typeface="Poppins Bold" panose="00000800000000000000" pitchFamily="2" charset="0"/>
                <a:sym typeface="Poppins Ultra-Bold"/>
              </a:rPr>
              <a:t>26</a:t>
            </a:r>
          </a:p>
          <a:p>
            <a:pPr>
              <a:lnSpc>
                <a:spcPts val="15490"/>
              </a:lnSpc>
            </a:pPr>
            <a:r>
              <a:rPr lang="en-US" sz="19362" b="1" spc="-2014">
                <a:solidFill>
                  <a:srgbClr val="D5D5D5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生存指南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82213" y="919167"/>
            <a:ext cx="1882048" cy="184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388"/>
              </a:lnSpc>
            </a:pPr>
            <a:r>
              <a:rPr lang="en-US" sz="1388" b="1" spc="-83">
                <a:solidFill>
                  <a:srgbClr val="FF0000"/>
                </a:solidFill>
                <a:latin typeface="Poppins Bold"/>
                <a:ea typeface="Poppins Bold"/>
                <a:cs typeface="Poppins Bold"/>
                <a:sym typeface="Poppins Bold"/>
              </a:rPr>
              <a:t>ANTA</a:t>
            </a:r>
            <a:r>
              <a:rPr lang="en-US" sz="1388" b="1" spc="-83">
                <a:solidFill>
                  <a:srgbClr val="D5D5D5"/>
                </a:solidFill>
                <a:latin typeface="Poppins Bold"/>
                <a:ea typeface="Poppins Bold"/>
                <a:cs typeface="Poppins Bold"/>
                <a:sym typeface="Poppins Bold"/>
              </a:rPr>
              <a:t> X ANTAGONISTS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582213" y="719666"/>
            <a:ext cx="1882048" cy="1438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58"/>
              </a:lnSpc>
            </a:pPr>
            <a:r>
              <a:rPr lang="en-US" sz="1058" b="1" spc="-63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09 J</a:t>
            </a:r>
            <a:r>
              <a:rPr lang="en-US" altLang="zh-CN" sz="1058" b="1" spc="-63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une</a:t>
            </a:r>
            <a:r>
              <a:rPr lang="en-US" sz="1058" b="1" spc="-63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, 2026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582213" y="1152272"/>
            <a:ext cx="1882048" cy="141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58"/>
              </a:lnSpc>
            </a:pPr>
            <a:r>
              <a:rPr lang="zh-CN" altLang="en-US" sz="1058" b="1" spc="-63">
                <a:solidFill>
                  <a:srgbClr val="D5D5D5"/>
                </a:solidFill>
                <a:latin typeface="Poppins"/>
                <a:ea typeface="Poppins"/>
                <a:cs typeface="Poppins"/>
                <a:sym typeface="Poppins"/>
              </a:rPr>
              <a:t>世界水深火热，而我们在买鞋</a:t>
            </a:r>
            <a:endParaRPr lang="en-US" sz="1058" b="1" spc="-63">
              <a:solidFill>
                <a:srgbClr val="D5D5D5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3810FD-7877-BC9F-AE21-13E0BE806991}"/>
              </a:ext>
            </a:extLst>
          </p:cNvPr>
          <p:cNvSpPr txBox="1"/>
          <p:nvPr/>
        </p:nvSpPr>
        <p:spPr>
          <a:xfrm>
            <a:off x="701517" y="5820892"/>
            <a:ext cx="6956731" cy="5218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791" b="1">
                <a:solidFill>
                  <a:schemeClr val="bg1"/>
                </a:solidFill>
              </a:rPr>
              <a:t>成为利维坦</a:t>
            </a:r>
            <a:r>
              <a:rPr lang="zh-CN" altLang="en-US" sz="2791">
                <a:solidFill>
                  <a:schemeClr val="bg1"/>
                </a:solidFill>
              </a:rPr>
              <a:t>：安踏</a:t>
            </a:r>
            <a:r>
              <a:rPr lang="en-US" altLang="zh-CN" sz="2791">
                <a:solidFill>
                  <a:schemeClr val="bg1"/>
                </a:solidFill>
              </a:rPr>
              <a:t>OS</a:t>
            </a:r>
            <a:r>
              <a:rPr lang="zh-CN" altLang="en-US" sz="2791">
                <a:solidFill>
                  <a:schemeClr val="bg1"/>
                </a:solidFill>
              </a:rPr>
              <a:t>战略管理展示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71B430-C317-8D7B-7680-D018D7F41FFD}"/>
              </a:ext>
            </a:extLst>
          </p:cNvPr>
          <p:cNvPicPr>
            <a:picLocks noChangeAspect="1"/>
          </p:cNvPicPr>
          <p:nvPr/>
        </p:nvPicPr>
        <p:blipFill>
          <a:blip r:embed="rId2">
            <a:biLevel thresh="75000"/>
          </a:blip>
          <a:stretch>
            <a:fillRect/>
          </a:stretch>
        </p:blipFill>
        <p:spPr>
          <a:xfrm>
            <a:off x="0" y="26582"/>
            <a:ext cx="12192000" cy="680483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840D765-8318-7C58-7F90-99792D5ED3B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29" t="6370" r="15943" b="15446"/>
          <a:stretch>
            <a:fillRect/>
          </a:stretch>
        </p:blipFill>
        <p:spPr>
          <a:xfrm rot="2020192">
            <a:off x="2669467" y="2653871"/>
            <a:ext cx="10488555" cy="724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9403A98-0B2E-8A1F-D2B6-4A32C903C8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23" y="5458312"/>
            <a:ext cx="2029690" cy="1027867"/>
          </a:xfrm>
          <a:prstGeom prst="rect">
            <a:avLst/>
          </a:prstGeom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0AF5CB3B-75EB-1E94-E43C-13B4879E9F8C}"/>
              </a:ext>
            </a:extLst>
          </p:cNvPr>
          <p:cNvSpPr/>
          <p:nvPr/>
        </p:nvSpPr>
        <p:spPr>
          <a:xfrm>
            <a:off x="734659" y="2746347"/>
            <a:ext cx="2613627" cy="921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0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709" eaLnBrk="0">
              <a:lnSpc>
                <a:spcPct val="96000"/>
              </a:lnSpc>
              <a:spcBef>
                <a:spcPts val="765"/>
              </a:spcBef>
            </a:pPr>
            <a:r>
              <a:rPr lang="zh-CN" altLang="en-US" sz="4744" b="1" kern="0" spc="-14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马赫临界</a:t>
            </a:r>
            <a:endParaRPr lang="zh-CN" altLang="en-US" sz="4744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209" dirty="0">
              <a:latin typeface="Arial"/>
              <a:ea typeface="Arial"/>
              <a:cs typeface="Arial"/>
            </a:endParaRPr>
          </a:p>
          <a:p>
            <a:pPr algn="r" eaLnBrk="0">
              <a:lnSpc>
                <a:spcPct val="81000"/>
              </a:lnSpc>
              <a:spcBef>
                <a:spcPts val="2"/>
              </a:spcBef>
            </a:pPr>
            <a:endParaRPr sz="977" dirty="0">
              <a:latin typeface="Arial"/>
              <a:ea typeface="Arial"/>
              <a:cs typeface="Arial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3056B23E-D7BC-C5AE-F7E9-2E7EA0C6B415}"/>
              </a:ext>
            </a:extLst>
          </p:cNvPr>
          <p:cNvSpPr/>
          <p:nvPr/>
        </p:nvSpPr>
        <p:spPr>
          <a:xfrm>
            <a:off x="802321" y="2746347"/>
            <a:ext cx="2613627" cy="921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0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709" eaLnBrk="0">
              <a:lnSpc>
                <a:spcPct val="96000"/>
              </a:lnSpc>
              <a:spcBef>
                <a:spcPts val="765"/>
              </a:spcBef>
            </a:pPr>
            <a:r>
              <a:rPr lang="zh-CN" altLang="en-US" sz="4744" b="1" kern="0" spc="-14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马赫临界</a:t>
            </a:r>
            <a:endParaRPr lang="zh-CN" altLang="en-US" sz="4744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209" dirty="0">
              <a:latin typeface="Arial"/>
              <a:ea typeface="Arial"/>
              <a:cs typeface="Arial"/>
            </a:endParaRPr>
          </a:p>
          <a:p>
            <a:pPr algn="r" eaLnBrk="0">
              <a:lnSpc>
                <a:spcPct val="81000"/>
              </a:lnSpc>
              <a:spcBef>
                <a:spcPts val="2"/>
              </a:spcBef>
            </a:pPr>
            <a:endParaRPr sz="977" dirty="0">
              <a:latin typeface="Arial"/>
              <a:ea typeface="Arial"/>
              <a:cs typeface="Arial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F45E8839-07CC-C791-C703-82289AFCAB07}"/>
              </a:ext>
            </a:extLst>
          </p:cNvPr>
          <p:cNvSpPr/>
          <p:nvPr/>
        </p:nvSpPr>
        <p:spPr>
          <a:xfrm>
            <a:off x="908647" y="2852673"/>
            <a:ext cx="2613627" cy="921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0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709" eaLnBrk="0">
              <a:lnSpc>
                <a:spcPct val="96000"/>
              </a:lnSpc>
              <a:spcBef>
                <a:spcPts val="765"/>
              </a:spcBef>
            </a:pPr>
            <a:r>
              <a:rPr lang="zh-CN" altLang="en-US" sz="4744" b="1" kern="0" spc="-14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马赫临界</a:t>
            </a:r>
            <a:endParaRPr lang="zh-CN" altLang="en-US" sz="4744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209" dirty="0">
              <a:latin typeface="Arial"/>
              <a:ea typeface="Arial"/>
              <a:cs typeface="Arial"/>
            </a:endParaRPr>
          </a:p>
          <a:p>
            <a:pPr algn="r" eaLnBrk="0">
              <a:lnSpc>
                <a:spcPct val="81000"/>
              </a:lnSpc>
              <a:spcBef>
                <a:spcPts val="2"/>
              </a:spcBef>
            </a:pPr>
            <a:endParaRPr sz="977" dirty="0">
              <a:latin typeface="Arial"/>
              <a:ea typeface="Arial"/>
              <a:cs typeface="Arial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7B72D606-F35F-9CCD-C719-147D1F82ADA9}"/>
              </a:ext>
            </a:extLst>
          </p:cNvPr>
          <p:cNvSpPr/>
          <p:nvPr/>
        </p:nvSpPr>
        <p:spPr>
          <a:xfrm>
            <a:off x="1014972" y="3260050"/>
            <a:ext cx="2613627" cy="921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0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709" eaLnBrk="0">
              <a:lnSpc>
                <a:spcPct val="96000"/>
              </a:lnSpc>
              <a:spcBef>
                <a:spcPts val="765"/>
              </a:spcBef>
            </a:pPr>
            <a:r>
              <a:rPr lang="zh-CN" altLang="en-US" sz="4744" b="1" kern="0" spc="-14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马赫临界</a:t>
            </a:r>
            <a:endParaRPr lang="zh-CN" altLang="en-US" sz="4744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209" dirty="0">
              <a:latin typeface="Arial"/>
              <a:ea typeface="Arial"/>
              <a:cs typeface="Arial"/>
            </a:endParaRPr>
          </a:p>
          <a:p>
            <a:pPr algn="r" eaLnBrk="0">
              <a:lnSpc>
                <a:spcPct val="81000"/>
              </a:lnSpc>
              <a:spcBef>
                <a:spcPts val="2"/>
              </a:spcBef>
            </a:pPr>
            <a:endParaRPr sz="977" dirty="0">
              <a:latin typeface="Arial"/>
              <a:ea typeface="Arial"/>
              <a:cs typeface="Arial"/>
            </a:endParaRP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5C45E080-BC3D-3A74-20C7-839837CBD25F}"/>
              </a:ext>
            </a:extLst>
          </p:cNvPr>
          <p:cNvSpPr/>
          <p:nvPr/>
        </p:nvSpPr>
        <p:spPr>
          <a:xfrm>
            <a:off x="447455" y="3679904"/>
            <a:ext cx="4862380" cy="921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01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1709" eaLnBrk="0">
              <a:lnSpc>
                <a:spcPct val="96000"/>
              </a:lnSpc>
              <a:spcBef>
                <a:spcPts val="765"/>
              </a:spcBef>
            </a:pPr>
            <a:r>
              <a:rPr lang="zh-CN" altLang="en-US" sz="4744" b="1" kern="0" spc="-14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永别了，马赫临界</a:t>
            </a:r>
            <a:endParaRPr lang="zh-CN" altLang="en-US" sz="4744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698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209" dirty="0">
              <a:latin typeface="Arial"/>
              <a:ea typeface="Arial"/>
              <a:cs typeface="Arial"/>
            </a:endParaRPr>
          </a:p>
          <a:p>
            <a:pPr algn="r" eaLnBrk="0">
              <a:lnSpc>
                <a:spcPct val="81000"/>
              </a:lnSpc>
              <a:spcBef>
                <a:spcPts val="2"/>
              </a:spcBef>
            </a:pPr>
            <a:endParaRPr sz="977" dirty="0">
              <a:latin typeface="Arial"/>
              <a:ea typeface="Arial"/>
              <a:cs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01083C-B151-5E84-3530-1B6790DAA41D}"/>
              </a:ext>
            </a:extLst>
          </p:cNvPr>
          <p:cNvSpPr txBox="1"/>
          <p:nvPr/>
        </p:nvSpPr>
        <p:spPr>
          <a:xfrm>
            <a:off x="1867182" y="5737083"/>
            <a:ext cx="1436960" cy="285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56" b="1"/>
              <a:t>ANTAGONISTS</a:t>
            </a:r>
            <a:endParaRPr lang="zh-CN" altLang="en-US" sz="1256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E50ADE-1973-612D-2DE5-87A56AD284CD}"/>
              </a:ext>
            </a:extLst>
          </p:cNvPr>
          <p:cNvSpPr txBox="1"/>
          <p:nvPr/>
        </p:nvSpPr>
        <p:spPr>
          <a:xfrm>
            <a:off x="1973508" y="5843408"/>
            <a:ext cx="1436960" cy="285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56" b="1"/>
              <a:t>ANTAGONISTS</a:t>
            </a:r>
            <a:endParaRPr lang="zh-CN" altLang="en-US" sz="1256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9046E8-4E30-356F-AD6C-B22AFEEBB190}"/>
              </a:ext>
            </a:extLst>
          </p:cNvPr>
          <p:cNvSpPr txBox="1"/>
          <p:nvPr/>
        </p:nvSpPr>
        <p:spPr>
          <a:xfrm>
            <a:off x="4140613" y="6096549"/>
            <a:ext cx="1762068" cy="349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74" b="1"/>
              <a:t>ANTAGONISTS</a:t>
            </a:r>
            <a:endParaRPr lang="zh-CN" altLang="en-US" sz="1674" b="1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E35514-D6BA-547E-EF65-4A97A5C20F2B}"/>
              </a:ext>
            </a:extLst>
          </p:cNvPr>
          <p:cNvSpPr txBox="1"/>
          <p:nvPr/>
        </p:nvSpPr>
        <p:spPr>
          <a:xfrm>
            <a:off x="2479337" y="5790246"/>
            <a:ext cx="1436960" cy="285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56" b="1"/>
              <a:t>ANTAGONISTS</a:t>
            </a:r>
            <a:endParaRPr lang="zh-CN" altLang="en-US" sz="1256" b="1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9C8FA9-CC8E-D240-B263-AA3A9FA4BD21}"/>
              </a:ext>
            </a:extLst>
          </p:cNvPr>
          <p:cNvSpPr txBox="1"/>
          <p:nvPr/>
        </p:nvSpPr>
        <p:spPr>
          <a:xfrm>
            <a:off x="2250759" y="5917215"/>
            <a:ext cx="1436960" cy="285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56" b="1"/>
              <a:t>ANTAGONISTS</a:t>
            </a:r>
            <a:endParaRPr lang="zh-CN" altLang="en-US" sz="1256" b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BCDE9C-0B9D-C915-FF88-E0B24892F2F2}"/>
              </a:ext>
            </a:extLst>
          </p:cNvPr>
          <p:cNvSpPr txBox="1"/>
          <p:nvPr/>
        </p:nvSpPr>
        <p:spPr>
          <a:xfrm>
            <a:off x="2895392" y="5670218"/>
            <a:ext cx="1436960" cy="285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56" b="1"/>
              <a:t>ANTAGONISTS</a:t>
            </a:r>
            <a:endParaRPr lang="zh-CN" altLang="en-US" sz="1256" b="1"/>
          </a:p>
        </p:txBody>
      </p:sp>
    </p:spTree>
    <p:extLst>
      <p:ext uri="{BB962C8B-B14F-4D97-AF65-F5344CB8AC3E}">
        <p14:creationId xmlns:p14="http://schemas.microsoft.com/office/powerpoint/2010/main" val="15660065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-5400000">
            <a:off x="1501505" y="3335387"/>
            <a:ext cx="6858000" cy="187225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zh-CN" altLang="en-US" sz="1200"/>
          </a:p>
        </p:txBody>
      </p:sp>
      <p:sp>
        <p:nvSpPr>
          <p:cNvPr id="3" name="Freeform 3"/>
          <p:cNvSpPr/>
          <p:nvPr/>
        </p:nvSpPr>
        <p:spPr>
          <a:xfrm>
            <a:off x="-26757" y="0"/>
            <a:ext cx="4888222" cy="6858000"/>
          </a:xfrm>
          <a:custGeom>
            <a:avLst/>
            <a:gdLst/>
            <a:ahLst/>
            <a:cxnLst/>
            <a:rect l="l" t="t" r="r" b="b"/>
            <a:pathLst>
              <a:path w="7863917" h="10287000">
                <a:moveTo>
                  <a:pt x="0" y="0"/>
                </a:moveTo>
                <a:lnTo>
                  <a:pt x="7863917" y="0"/>
                </a:lnTo>
                <a:lnTo>
                  <a:pt x="786391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6000"/>
            </a:blip>
            <a:stretch>
              <a:fillRect l="-93754" r="-109057" b="-13375"/>
            </a:stretch>
          </a:blipFill>
        </p:spPr>
        <p:txBody>
          <a:bodyPr/>
          <a:lstStyle/>
          <a:p>
            <a:endParaRPr lang="zh-CN" altLang="en-US" sz="1200"/>
          </a:p>
        </p:txBody>
      </p:sp>
      <p:sp>
        <p:nvSpPr>
          <p:cNvPr id="4" name="TextBox 4"/>
          <p:cNvSpPr txBox="1"/>
          <p:nvPr/>
        </p:nvSpPr>
        <p:spPr>
          <a:xfrm>
            <a:off x="3048000" y="174534"/>
            <a:ext cx="1786034" cy="3416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65"/>
              </a:lnSpc>
              <a:spcBef>
                <a:spcPct val="0"/>
              </a:spcBef>
            </a:pPr>
            <a:r>
              <a:rPr lang="en-US" sz="1535" b="1" spc="298">
                <a:solidFill>
                  <a:srgbClr val="000000"/>
                </a:solidFill>
                <a:latin typeface="Noto Sans SC" panose="020B0200000000000000" pitchFamily="34" charset="-122"/>
                <a:ea typeface="Noto Sans SC" panose="020B0200000000000000" pitchFamily="34" charset="-122"/>
                <a:cs typeface="思源黑体 Bold" panose="020B0800000000000000" charset="-122"/>
                <a:sym typeface="思源黑体 Bold" panose="020B0800000000000000" charset="-122"/>
              </a:rPr>
              <a:t>MATCHAFLOW</a:t>
            </a:r>
          </a:p>
        </p:txBody>
      </p:sp>
      <p:sp>
        <p:nvSpPr>
          <p:cNvPr id="5" name="Freeform 5"/>
          <p:cNvSpPr/>
          <p:nvPr/>
        </p:nvSpPr>
        <p:spPr>
          <a:xfrm>
            <a:off x="5086879" y="-239864"/>
            <a:ext cx="7097864" cy="7097864"/>
          </a:xfrm>
          <a:custGeom>
            <a:avLst/>
            <a:gdLst/>
            <a:ahLst/>
            <a:cxnLst/>
            <a:rect l="l" t="t" r="r" b="b"/>
            <a:pathLst>
              <a:path w="10646796" h="10646796">
                <a:moveTo>
                  <a:pt x="0" y="0"/>
                </a:moveTo>
                <a:lnTo>
                  <a:pt x="10646796" y="0"/>
                </a:lnTo>
                <a:lnTo>
                  <a:pt x="10646796" y="10646796"/>
                </a:lnTo>
                <a:lnTo>
                  <a:pt x="0" y="106467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999"/>
            </a:blip>
            <a:stretch>
              <a:fillRect/>
            </a:stretch>
          </a:blipFill>
        </p:spPr>
        <p:txBody>
          <a:bodyPr/>
          <a:lstStyle/>
          <a:p>
            <a:endParaRPr lang="zh-CN" altLang="en-US" sz="1200"/>
          </a:p>
        </p:txBody>
      </p:sp>
      <p:pic>
        <p:nvPicPr>
          <p:cNvPr id="9" name="图片 2">
            <a:extLst>
              <a:ext uri="{FF2B5EF4-FFF2-40B4-BE49-F238E27FC236}">
                <a16:creationId xmlns:a16="http://schemas.microsoft.com/office/drawing/2014/main" id="{091D07D9-6041-B816-66AC-A86C8D6E5B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1010" y="1155261"/>
            <a:ext cx="3361026" cy="4753926"/>
          </a:xfrm>
          <a:prstGeom prst="rect">
            <a:avLst/>
          </a:prstGeom>
        </p:spPr>
      </p:pic>
      <p:pic>
        <p:nvPicPr>
          <p:cNvPr id="11" name="图片 4">
            <a:extLst>
              <a:ext uri="{FF2B5EF4-FFF2-40B4-BE49-F238E27FC236}">
                <a16:creationId xmlns:a16="http://schemas.microsoft.com/office/drawing/2014/main" id="{A34133F3-C02E-190A-A642-72E4F91ACCF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8432" y="1155261"/>
            <a:ext cx="3361026" cy="47539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371</Words>
  <Application>Microsoft Office PowerPoint</Application>
  <PresentationFormat>Widescreen</PresentationFormat>
  <Paragraphs>152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等线</vt:lpstr>
      <vt:lpstr>Noto Sans SC</vt:lpstr>
      <vt:lpstr>Poppins Ultra-Bold</vt:lpstr>
      <vt:lpstr>SimHei</vt:lpstr>
      <vt:lpstr>Arial</vt:lpstr>
      <vt:lpstr>Calibri</vt:lpstr>
      <vt:lpstr>Poppins</vt:lpstr>
      <vt:lpstr>Poppins Bold</vt:lpstr>
      <vt:lpstr>Sitka Display</vt:lpstr>
      <vt:lpstr>WPS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老鼠王症候群</dc:creator>
  <cp:lastModifiedBy>Noah Chou</cp:lastModifiedBy>
  <cp:revision>50</cp:revision>
  <dcterms:created xsi:type="dcterms:W3CDTF">2023-08-09T12:44:00Z</dcterms:created>
  <dcterms:modified xsi:type="dcterms:W3CDTF">2026-09-07T08:13:46Z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6B09AA9EC0574AA39D4839C7CB6A7724_12</vt:lpwstr>
  </property>
</Properties>
</file>