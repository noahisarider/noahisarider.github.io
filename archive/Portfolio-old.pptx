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29"/>
  </p:notesMasterIdLst>
  <p:sldIdLst>
    <p:sldId id="302" r:id="rId4"/>
    <p:sldId id="303" r:id="rId5"/>
    <p:sldId id="304" r:id="rId6"/>
    <p:sldId id="305" r:id="rId7"/>
    <p:sldId id="306" r:id="rId8"/>
    <p:sldId id="308" r:id="rId9"/>
    <p:sldId id="307" r:id="rId10"/>
    <p:sldId id="309" r:id="rId11"/>
    <p:sldId id="310" r:id="rId12"/>
    <p:sldId id="298" r:id="rId13"/>
    <p:sldId id="282" r:id="rId14"/>
    <p:sldId id="299" r:id="rId15"/>
    <p:sldId id="258" r:id="rId16"/>
    <p:sldId id="297" r:id="rId17"/>
    <p:sldId id="290" r:id="rId18"/>
    <p:sldId id="292" r:id="rId19"/>
    <p:sldId id="256" r:id="rId20"/>
    <p:sldId id="293" r:id="rId21"/>
    <p:sldId id="294" r:id="rId22"/>
    <p:sldId id="295" r:id="rId23"/>
    <p:sldId id="300" r:id="rId24"/>
    <p:sldId id="273" r:id="rId25"/>
    <p:sldId id="271" r:id="rId26"/>
    <p:sldId id="301" r:id="rId27"/>
    <p:sldId id="29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264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D84F-1624-4992-9323-8D9F1E6329C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9089-9E78-4962-A28C-3535003D1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85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AF17A1-C81F-49ED-AC4A-888C870FB92A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221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23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6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1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51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20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8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46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1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56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2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6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6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966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32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229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77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010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6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816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27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3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03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6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ACA68-B19B-44FA-9D7C-518A3C0405B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9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9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oblivio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oblivio/minimal-archiv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eek-rss.vercel.app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-club-2000.vercel.app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lmclube-cc.vercel.app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ilor-draft.vercel.app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useum-of-failures.vercel.app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NEOWEST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noahisarider.codeberg.page/Platoni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github.com/NoahIsARider/TTFND-MM" TargetMode="External"/><Relationship Id="rId7" Type="http://schemas.openxmlformats.org/officeDocument/2006/relationships/hyperlink" Target="https://github.com/NoahIsARider/Pythia" TargetMode="External"/><Relationship Id="rId2" Type="http://schemas.openxmlformats.org/officeDocument/2006/relationships/hyperlink" Target="https://github.com/NoahIsARider/Herm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oahIsARider/SDHD" TargetMode="External"/><Relationship Id="rId5" Type="http://schemas.openxmlformats.org/officeDocument/2006/relationships/hyperlink" Target="https://github.com/NoahIsARider/DLFaceDetection" TargetMode="External"/><Relationship Id="rId4" Type="http://schemas.openxmlformats.org/officeDocument/2006/relationships/hyperlink" Target="https://github.com/NoahIsARider/MatchaFlow" TargetMode="External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v.xiumius.cn/board/v5/6Dfai/620355592" TargetMode="External"/><Relationship Id="rId2" Type="http://schemas.openxmlformats.org/officeDocument/2006/relationships/hyperlink" Target="https://v.xiumi.us/board/v5/6Dfai/57367452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79EB1-86E2-958B-7A08-F9A371CBB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464"/>
            <a:ext cx="12192000" cy="6291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257B27-DF62-2AB7-AD5A-ACEE6E6FBC12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oblivion is freedom</a:t>
            </a:r>
            <a:endParaRPr lang="zh-CN" alt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0D59E-F137-CE7F-F4D3-E6357ABB8048}"/>
              </a:ext>
            </a:extLst>
          </p:cNvPr>
          <p:cNvSpPr txBox="1"/>
          <p:nvPr/>
        </p:nvSpPr>
        <p:spPr>
          <a:xfrm>
            <a:off x="0" y="0"/>
            <a:ext cx="3372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在线艺术展示</a:t>
            </a:r>
          </a:p>
        </p:txBody>
      </p:sp>
    </p:spTree>
    <p:extLst>
      <p:ext uri="{BB962C8B-B14F-4D97-AF65-F5344CB8AC3E}">
        <p14:creationId xmlns:p14="http://schemas.microsoft.com/office/powerpoint/2010/main" val="16758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5DB1F-09C6-562A-1D83-96FF37769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747"/>
            <a:ext cx="12192000" cy="6268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D6FEA5-E340-3B83-2FB7-0FCEB8DB0863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Selected Works | oblivion is freedom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19972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15C91-116D-4B64-DD1E-624709FF5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158"/>
            <a:ext cx="12192000" cy="6267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1BE77-400A-675B-EEAD-50BCFDC1D640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GeekRSS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3949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B2A37-74CF-7BDB-244F-629AFADF4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353"/>
            <a:ext cx="12192000" cy="6221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203B5-6D9A-8DAB-395C-012309C03278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BookClub 2000 - Co-reading Club &amp; Reading Log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95098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49D85-E912-B636-809E-67F17511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495"/>
            <a:ext cx="12192000" cy="6275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C806B-180F-5446-8D6D-27DDED4881E7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Clube · 影协放映助手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7300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4E3D8A-36C8-EC56-4B7D-3B566C4F6E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64" y="219806"/>
            <a:ext cx="7285220" cy="3763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05E6CF-4587-BB93-6659-B1C4F691582F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Sailor Draft — Screenwriting, unadorned</a:t>
            </a:r>
            <a:endParaRPr lang="zh-CN" alt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05686-C756-2C26-716A-FAAAE0CE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521" y="2301470"/>
            <a:ext cx="8054715" cy="414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5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1D5F5-B089-8A93-759B-45F13BB55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211"/>
            <a:ext cx="12192000" cy="6239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7A7720-C357-41D7-75CF-E630790685FB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失败案例博物馆 · MUSEUM OF AI FAILURES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1766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39257-8216-226D-1E93-9B182EC9F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4" y="503919"/>
            <a:ext cx="5373974" cy="2724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3A4E2-7C3E-EA98-3EC5-B49AA6464015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NEOWEST</a:t>
            </a:r>
            <a:endParaRPr lang="zh-CN" alt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80C3D-94C3-5396-4936-A9FD405CB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54" y="3429000"/>
            <a:ext cx="5373974" cy="2760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334F19-20A2-3CA7-84B0-1D804BA0E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824" y="503919"/>
            <a:ext cx="5292628" cy="27240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5709B8-7A53-4DB0-C105-2EA74D1166AA}"/>
              </a:ext>
            </a:extLst>
          </p:cNvPr>
          <p:cNvPicPr>
            <a:picLocks/>
          </p:cNvPicPr>
          <p:nvPr/>
        </p:nvPicPr>
        <p:blipFill>
          <a:blip r:embed="rId6"/>
          <a:srcRect r="2513"/>
          <a:stretch>
            <a:fillRect/>
          </a:stretch>
        </p:blipFill>
        <p:spPr>
          <a:xfrm>
            <a:off x="6379825" y="3429000"/>
            <a:ext cx="5292628" cy="27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0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4DF516-4DE6-4AF7-9F31-C00B0ABEAD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4" y="224299"/>
            <a:ext cx="7161027" cy="3699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BACB5A-B3DE-3A5E-793F-A079EE98B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075" y="2934032"/>
            <a:ext cx="7198269" cy="3699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ADA03-E654-EB43-2763-C6DA6EFCFFFA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4"/>
              </a:rPr>
              <a:t>Home | platonia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76087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793E6D-2DE6-EA6F-CAA5-F9A6AE6A7DDB}"/>
              </a:ext>
            </a:extLst>
          </p:cNvPr>
          <p:cNvSpPr/>
          <p:nvPr/>
        </p:nvSpPr>
        <p:spPr>
          <a:xfrm>
            <a:off x="0" y="-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AutoShape 34">
            <a:extLst>
              <a:ext uri="{FF2B5EF4-FFF2-40B4-BE49-F238E27FC236}">
                <a16:creationId xmlns:a16="http://schemas.microsoft.com/office/drawing/2014/main" id="{C02D51CD-17EB-9483-22E2-CA5AED65CD7E}"/>
              </a:ext>
            </a:extLst>
          </p:cNvPr>
          <p:cNvSpPr/>
          <p:nvPr/>
        </p:nvSpPr>
        <p:spPr>
          <a:xfrm flipV="1">
            <a:off x="26051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35">
            <a:extLst>
              <a:ext uri="{FF2B5EF4-FFF2-40B4-BE49-F238E27FC236}">
                <a16:creationId xmlns:a16="http://schemas.microsoft.com/office/drawing/2014/main" id="{2C106E1B-017B-7BCC-C906-B3D84843E3D8}"/>
              </a:ext>
            </a:extLst>
          </p:cNvPr>
          <p:cNvSpPr/>
          <p:nvPr/>
        </p:nvSpPr>
        <p:spPr>
          <a:xfrm flipV="1">
            <a:off x="33537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36">
            <a:extLst>
              <a:ext uri="{FF2B5EF4-FFF2-40B4-BE49-F238E27FC236}">
                <a16:creationId xmlns:a16="http://schemas.microsoft.com/office/drawing/2014/main" id="{90BB6285-0751-7EC3-8B59-73C29B98CB21}"/>
              </a:ext>
            </a:extLst>
          </p:cNvPr>
          <p:cNvSpPr/>
          <p:nvPr/>
        </p:nvSpPr>
        <p:spPr>
          <a:xfrm flipV="1">
            <a:off x="41023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7">
            <a:extLst>
              <a:ext uri="{FF2B5EF4-FFF2-40B4-BE49-F238E27FC236}">
                <a16:creationId xmlns:a16="http://schemas.microsoft.com/office/drawing/2014/main" id="{2A39D070-00DD-D14D-6EB4-0982E448D408}"/>
              </a:ext>
            </a:extLst>
          </p:cNvPr>
          <p:cNvSpPr/>
          <p:nvPr/>
        </p:nvSpPr>
        <p:spPr>
          <a:xfrm flipV="1">
            <a:off x="48509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8">
            <a:extLst>
              <a:ext uri="{FF2B5EF4-FFF2-40B4-BE49-F238E27FC236}">
                <a16:creationId xmlns:a16="http://schemas.microsoft.com/office/drawing/2014/main" id="{2E02A493-3D47-A983-E0D7-09AE507409B8}"/>
              </a:ext>
            </a:extLst>
          </p:cNvPr>
          <p:cNvSpPr/>
          <p:nvPr/>
        </p:nvSpPr>
        <p:spPr>
          <a:xfrm flipV="1">
            <a:off x="559954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9">
            <a:extLst>
              <a:ext uri="{FF2B5EF4-FFF2-40B4-BE49-F238E27FC236}">
                <a16:creationId xmlns:a16="http://schemas.microsoft.com/office/drawing/2014/main" id="{B0648317-631E-0382-0EE0-58B71FD9DD4B}"/>
              </a:ext>
            </a:extLst>
          </p:cNvPr>
          <p:cNvSpPr/>
          <p:nvPr/>
        </p:nvSpPr>
        <p:spPr>
          <a:xfrm flipV="1">
            <a:off x="63481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40">
            <a:extLst>
              <a:ext uri="{FF2B5EF4-FFF2-40B4-BE49-F238E27FC236}">
                <a16:creationId xmlns:a16="http://schemas.microsoft.com/office/drawing/2014/main" id="{07CB364C-1640-ED31-2475-AD2F00389FE1}"/>
              </a:ext>
            </a:extLst>
          </p:cNvPr>
          <p:cNvSpPr/>
          <p:nvPr/>
        </p:nvSpPr>
        <p:spPr>
          <a:xfrm flipV="1">
            <a:off x="70967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41">
            <a:extLst>
              <a:ext uri="{FF2B5EF4-FFF2-40B4-BE49-F238E27FC236}">
                <a16:creationId xmlns:a16="http://schemas.microsoft.com/office/drawing/2014/main" id="{3EC75B9A-60C2-5579-53D3-A27617AAB0AD}"/>
              </a:ext>
            </a:extLst>
          </p:cNvPr>
          <p:cNvSpPr/>
          <p:nvPr/>
        </p:nvSpPr>
        <p:spPr>
          <a:xfrm flipV="1">
            <a:off x="78453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42">
            <a:extLst>
              <a:ext uri="{FF2B5EF4-FFF2-40B4-BE49-F238E27FC236}">
                <a16:creationId xmlns:a16="http://schemas.microsoft.com/office/drawing/2014/main" id="{996C878F-B810-EB38-F0D7-9416BC52DA02}"/>
              </a:ext>
            </a:extLst>
          </p:cNvPr>
          <p:cNvSpPr/>
          <p:nvPr/>
        </p:nvSpPr>
        <p:spPr>
          <a:xfrm flipV="1">
            <a:off x="85939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52">
            <a:extLst>
              <a:ext uri="{FF2B5EF4-FFF2-40B4-BE49-F238E27FC236}">
                <a16:creationId xmlns:a16="http://schemas.microsoft.com/office/drawing/2014/main" id="{2A128627-F4B1-3200-574C-F9D002DC15CA}"/>
              </a:ext>
            </a:extLst>
          </p:cNvPr>
          <p:cNvSpPr/>
          <p:nvPr/>
        </p:nvSpPr>
        <p:spPr>
          <a:xfrm flipH="1">
            <a:off x="11280798" y="370618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53">
            <a:extLst>
              <a:ext uri="{FF2B5EF4-FFF2-40B4-BE49-F238E27FC236}">
                <a16:creationId xmlns:a16="http://schemas.microsoft.com/office/drawing/2014/main" id="{ED65EB98-178D-7E95-2FC1-317E70CD77E9}"/>
              </a:ext>
            </a:extLst>
          </p:cNvPr>
          <p:cNvSpPr/>
          <p:nvPr/>
        </p:nvSpPr>
        <p:spPr>
          <a:xfrm flipH="1">
            <a:off x="11280798" y="317503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54">
            <a:extLst>
              <a:ext uri="{FF2B5EF4-FFF2-40B4-BE49-F238E27FC236}">
                <a16:creationId xmlns:a16="http://schemas.microsoft.com/office/drawing/2014/main" id="{0C3EA127-80CA-9A41-C61C-02A79D5AA6AD}"/>
              </a:ext>
            </a:extLst>
          </p:cNvPr>
          <p:cNvSpPr/>
          <p:nvPr/>
        </p:nvSpPr>
        <p:spPr>
          <a:xfrm flipH="1">
            <a:off x="11280798" y="264389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97661B33-5297-D925-D141-FA0F6ECE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2628" b="6063"/>
          <a:stretch>
            <a:fillRect/>
          </a:stretch>
        </p:blipFill>
        <p:spPr>
          <a:xfrm>
            <a:off x="-42846" y="4619376"/>
            <a:ext cx="12241911" cy="5006027"/>
          </a:xfrm>
          <a:prstGeom prst="rect">
            <a:avLst/>
          </a:prstGeom>
          <a:effectLst>
            <a:outerShdw dist="50800" dir="5400000" sx="1000" sy="1000" algn="ctr" rotWithShape="0">
              <a:schemeClr val="tx1"/>
            </a:outerShdw>
          </a:effec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9603D1D2-6D98-03DE-202E-414C48184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988" y="-94033"/>
            <a:ext cx="4002024" cy="296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83">
            <a:extLst>
              <a:ext uri="{FF2B5EF4-FFF2-40B4-BE49-F238E27FC236}">
                <a16:creationId xmlns:a16="http://schemas.microsoft.com/office/drawing/2014/main" id="{C3EB90D4-A4FF-C223-8FB0-140932B6F8C9}"/>
              </a:ext>
            </a:extLst>
          </p:cNvPr>
          <p:cNvSpPr txBox="1"/>
          <p:nvPr/>
        </p:nvSpPr>
        <p:spPr>
          <a:xfrm>
            <a:off x="1828799" y="2461703"/>
            <a:ext cx="8852747" cy="2313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50"/>
              </a:lnSpc>
            </a:pPr>
            <a:r>
              <a:rPr lang="zh-CN" altLang="en-US" sz="4800" b="1" spc="654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产品开发展示</a:t>
            </a:r>
            <a:endParaRPr lang="zh-CN" altLang="en-US" sz="4800" b="1" spc="194" dirty="0">
              <a:solidFill>
                <a:srgbClr val="545454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  <a:p>
            <a:pPr algn="ctr">
              <a:lnSpc>
                <a:spcPts val="9350"/>
              </a:lnSpc>
            </a:pPr>
            <a:endParaRPr lang="en-US" sz="6680" spc="654" dirty="0">
              <a:solidFill>
                <a:srgbClr val="5271FF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14790544-C409-95D8-D7E4-54957C190F08}"/>
              </a:ext>
            </a:extLst>
          </p:cNvPr>
          <p:cNvSpPr txBox="1"/>
          <p:nvPr/>
        </p:nvSpPr>
        <p:spPr>
          <a:xfrm>
            <a:off x="2782950" y="3526739"/>
            <a:ext cx="6944445" cy="57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4"/>
              </a:lnSpc>
            </a:pPr>
            <a:r>
              <a:rPr lang="zh-CN" altLang="en-US" sz="2667" spc="194">
                <a:solidFill>
                  <a:srgbClr val="545454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从项目创意到实践</a:t>
            </a:r>
            <a:endParaRPr lang="zh-CN" altLang="en-US" sz="2667" spc="194" dirty="0">
              <a:solidFill>
                <a:srgbClr val="545454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81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1408973" y="5427677"/>
            <a:ext cx="590608" cy="1836534"/>
            <a:chOff x="0" y="0"/>
            <a:chExt cx="1181216" cy="3673068"/>
          </a:xfrm>
        </p:grpSpPr>
        <p:sp>
          <p:nvSpPr>
            <p:cNvPr id="7" name="AutoShape 7"/>
            <p:cNvSpPr/>
            <p:nvPr/>
          </p:nvSpPr>
          <p:spPr>
            <a:xfrm flipV="1">
              <a:off x="32503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431265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537494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643723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749951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85618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96240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106863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117486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 flipV="1">
              <a:off x="635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 flipV="1">
              <a:off x="11257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 flipV="1">
              <a:off x="21880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1723360" y="6629810"/>
            <a:ext cx="503750" cy="137115"/>
            <a:chOff x="0" y="0"/>
            <a:chExt cx="228720" cy="622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8720" cy="62255"/>
            </a:xfrm>
            <a:custGeom>
              <a:avLst/>
              <a:gdLst/>
              <a:ahLst/>
              <a:cxnLst/>
              <a:rect l="l" t="t" r="r" b="b"/>
              <a:pathLst>
                <a:path w="228720" h="62255">
                  <a:moveTo>
                    <a:pt x="0" y="0"/>
                  </a:moveTo>
                  <a:lnTo>
                    <a:pt x="228720" y="0"/>
                  </a:lnTo>
                  <a:lnTo>
                    <a:pt x="228720" y="62255"/>
                  </a:lnTo>
                  <a:lnTo>
                    <a:pt x="0" y="62255"/>
                  </a:lnTo>
                  <a:close/>
                </a:path>
              </a:pathLst>
            </a:custGeom>
            <a:solidFill>
              <a:srgbClr val="EBEEF3">
                <a:alpha val="8000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28720" cy="109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-473457" y="68108"/>
            <a:ext cx="1517438" cy="729537"/>
            <a:chOff x="0" y="0"/>
            <a:chExt cx="660400" cy="317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85801" y="603250"/>
            <a:ext cx="7292879" cy="66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spc="392" dirty="0" err="1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开发过程（地质时代模型</a:t>
            </a:r>
            <a:r>
              <a:rPr lang="en-US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）</a:t>
            </a:r>
          </a:p>
        </p:txBody>
      </p:sp>
      <p:grpSp>
        <p:nvGrpSpPr>
          <p:cNvPr id="26" name="Group 26"/>
          <p:cNvGrpSpPr/>
          <p:nvPr/>
        </p:nvGrpSpPr>
        <p:grpSpPr>
          <a:xfrm rot="-5400000">
            <a:off x="9592078" y="-629963"/>
            <a:ext cx="2632013" cy="608241"/>
            <a:chOff x="0" y="0"/>
            <a:chExt cx="5264026" cy="1216481"/>
          </a:xfrm>
        </p:grpSpPr>
        <p:sp>
          <p:nvSpPr>
            <p:cNvPr id="27" name="AutoShape 27"/>
            <p:cNvSpPr/>
            <p:nvPr/>
          </p:nvSpPr>
          <p:spPr>
            <a:xfrm>
              <a:off x="0" y="935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0" y="15907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0" y="308799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0" y="45852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0" y="60824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757961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0" y="907682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0" y="105740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0" y="120712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361477" y="845441"/>
            <a:ext cx="144723" cy="14472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>
                <a:alpha val="68627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955" y="2504650"/>
            <a:ext cx="2427508" cy="2413805"/>
            <a:chOff x="0" y="0"/>
            <a:chExt cx="959016" cy="95360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96434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太古代·Beta版</a:t>
            </a:r>
          </a:p>
        </p:txBody>
      </p:sp>
      <p:sp>
        <p:nvSpPr>
          <p:cNvPr id="43" name="Freeform 43"/>
          <p:cNvSpPr/>
          <p:nvPr/>
        </p:nvSpPr>
        <p:spPr>
          <a:xfrm>
            <a:off x="2226700" y="1895951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89" y="0"/>
                </a:lnTo>
                <a:lnTo>
                  <a:pt x="830289" y="440054"/>
                </a:lnTo>
                <a:lnTo>
                  <a:pt x="0" y="440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792995" y="1895951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90" y="0"/>
                </a:lnTo>
                <a:lnTo>
                  <a:pt x="830290" y="440054"/>
                </a:lnTo>
                <a:lnTo>
                  <a:pt x="0" y="440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 rot="5400000">
            <a:off x="818826" y="1697021"/>
            <a:ext cx="691228" cy="691228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3384217" y="1697021"/>
            <a:ext cx="691228" cy="691228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5949771" y="1697021"/>
            <a:ext cx="691228" cy="691228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5191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原生JavaScript搭建图片上传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检索原型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基础按钮点击、数据展示交互验证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浏览器本地JSON文件模拟数据存储</a:t>
            </a: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54925" y="1847056"/>
            <a:ext cx="419031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100577" y="1847056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521028" y="1847056"/>
            <a:ext cx="48015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02</a:t>
            </a:r>
          </a:p>
        </p:txBody>
      </p:sp>
      <p:sp>
        <p:nvSpPr>
          <p:cNvPr id="58" name="Freeform 58"/>
          <p:cNvSpPr/>
          <p:nvPr/>
        </p:nvSpPr>
        <p:spPr>
          <a:xfrm>
            <a:off x="7358549" y="1863416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89" y="0"/>
                </a:lnTo>
                <a:lnTo>
                  <a:pt x="830289" y="440053"/>
                </a:lnTo>
                <a:lnTo>
                  <a:pt x="0" y="440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9" name="Group 59"/>
          <p:cNvGrpSpPr/>
          <p:nvPr/>
        </p:nvGrpSpPr>
        <p:grpSpPr>
          <a:xfrm rot="5400000">
            <a:off x="8515325" y="1664486"/>
            <a:ext cx="691228" cy="691228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666131" y="1814520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04</a:t>
            </a:r>
          </a:p>
        </p:txBody>
      </p:sp>
      <p:sp>
        <p:nvSpPr>
          <p:cNvPr id="63" name="Freeform 63"/>
          <p:cNvSpPr/>
          <p:nvPr/>
        </p:nvSpPr>
        <p:spPr>
          <a:xfrm>
            <a:off x="9809803" y="1863416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90" y="0"/>
                </a:lnTo>
                <a:lnTo>
                  <a:pt x="830290" y="440053"/>
                </a:lnTo>
                <a:lnTo>
                  <a:pt x="0" y="440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4"/>
          <p:cNvGrpSpPr/>
          <p:nvPr/>
        </p:nvGrpSpPr>
        <p:grpSpPr>
          <a:xfrm rot="5400000">
            <a:off x="10966580" y="1664486"/>
            <a:ext cx="691228" cy="691228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117385" y="1814520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05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2547350" y="2504650"/>
            <a:ext cx="2427508" cy="2413805"/>
            <a:chOff x="0" y="0"/>
            <a:chExt cx="959016" cy="95360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2667829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寒武纪·V1版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96586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Vue3 +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ElementPlus搭建前端界面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实现账号注册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图片搜索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五星评分功能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基于Flask开发简易后端API</a:t>
            </a: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5019308" y="2504650"/>
            <a:ext cx="2427508" cy="2413805"/>
            <a:chOff x="0" y="0"/>
            <a:chExt cx="959016" cy="95360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9787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奥陶纪·V2版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068544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MySQL替代本地JSON存储用户数据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新增词条申请功能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注入1000+条模拟图片/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词条数据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(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小红书爬虫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)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78" name="Group 78"/>
          <p:cNvGrpSpPr/>
          <p:nvPr/>
        </p:nvGrpSpPr>
        <p:grpSpPr>
          <a:xfrm>
            <a:off x="7491266" y="2504650"/>
            <a:ext cx="2427508" cy="2413805"/>
            <a:chOff x="0" y="0"/>
            <a:chExt cx="959016" cy="95360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7611745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全新世·V3版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540502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技术实现：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界面视觉改版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优化组件加载速度与交互动效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云端部署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多模态搜索功能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用户互动游戏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9963224" y="2504650"/>
            <a:ext cx="2228776" cy="2413805"/>
            <a:chOff x="0" y="0"/>
            <a:chExt cx="880504" cy="95360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80504" cy="953602"/>
            </a:xfrm>
            <a:custGeom>
              <a:avLst/>
              <a:gdLst/>
              <a:ahLst/>
              <a:cxnLst/>
              <a:rect l="l" t="t" r="r" b="b"/>
              <a:pathLst>
                <a:path w="880504" h="953602">
                  <a:moveTo>
                    <a:pt x="25473" y="0"/>
                  </a:moveTo>
                  <a:lnTo>
                    <a:pt x="855031" y="0"/>
                  </a:lnTo>
                  <a:cubicBezTo>
                    <a:pt x="861787" y="0"/>
                    <a:pt x="868266" y="2684"/>
                    <a:pt x="873043" y="7461"/>
                  </a:cubicBezTo>
                  <a:cubicBezTo>
                    <a:pt x="877820" y="12238"/>
                    <a:pt x="880504" y="18717"/>
                    <a:pt x="880504" y="25473"/>
                  </a:cubicBezTo>
                  <a:lnTo>
                    <a:pt x="880504" y="928129"/>
                  </a:lnTo>
                  <a:cubicBezTo>
                    <a:pt x="880504" y="934885"/>
                    <a:pt x="877820" y="941364"/>
                    <a:pt x="873043" y="946141"/>
                  </a:cubicBezTo>
                  <a:cubicBezTo>
                    <a:pt x="868266" y="950918"/>
                    <a:pt x="861787" y="953602"/>
                    <a:pt x="855031" y="953602"/>
                  </a:cubicBezTo>
                  <a:lnTo>
                    <a:pt x="25473" y="953602"/>
                  </a:lnTo>
                  <a:cubicBezTo>
                    <a:pt x="18717" y="953602"/>
                    <a:pt x="12238" y="950918"/>
                    <a:pt x="7461" y="946141"/>
                  </a:cubicBezTo>
                  <a:cubicBezTo>
                    <a:pt x="2684" y="941364"/>
                    <a:pt x="0" y="934885"/>
                    <a:pt x="0" y="928129"/>
                  </a:cubicBezTo>
                  <a:lnTo>
                    <a:pt x="0" y="25473"/>
                  </a:lnTo>
                  <a:cubicBezTo>
                    <a:pt x="0" y="18717"/>
                    <a:pt x="2684" y="12238"/>
                    <a:pt x="7461" y="7461"/>
                  </a:cubicBezTo>
                  <a:cubicBezTo>
                    <a:pt x="12238" y="2684"/>
                    <a:pt x="18717" y="0"/>
                    <a:pt x="254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880504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0083703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人类世·V4版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012460" y="2985429"/>
            <a:ext cx="1894217" cy="132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技术实现： 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大模型半自动化词条审核流程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与各大网站产生关联（暂定MCP）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CF116354-86CC-8ACA-7EEA-1AF57F69B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112"/>
          <a:stretch>
            <a:fillRect/>
          </a:stretch>
        </p:blipFill>
        <p:spPr>
          <a:xfrm>
            <a:off x="1" y="4743300"/>
            <a:ext cx="12271507" cy="5969682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51B1-F4F5-CF96-73DE-32D80616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9B9B306F-37E3-6A4F-DF61-0CA645F539A9}"/>
              </a:ext>
            </a:extLst>
          </p:cNvPr>
          <p:cNvSpPr txBox="1"/>
          <p:nvPr/>
        </p:nvSpPr>
        <p:spPr>
          <a:xfrm>
            <a:off x="243068" y="138896"/>
            <a:ext cx="9387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个人开发作品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旅游轨迹模拟系统（论文未发表阶段，暂未公开）：</a:t>
            </a:r>
            <a:r>
              <a:rPr lang="en-US" altLang="zh-CN">
                <a:hlinkClick r:id="rId2"/>
              </a:rPr>
              <a:t>NoahIsARider/Hermes</a:t>
            </a:r>
            <a:endParaRPr lang="en-US" altLang="zh-CN"/>
          </a:p>
          <a:p>
            <a:r>
              <a:rPr lang="zh-CN" altLang="en-US"/>
              <a:t>多任务</a:t>
            </a:r>
            <a:r>
              <a:rPr lang="zh-CN" altLang="en-US">
                <a:highlight>
                  <a:srgbClr val="C0C0C0"/>
                </a:highlight>
              </a:rPr>
              <a:t>假新闻检测</a:t>
            </a:r>
            <a:r>
              <a:rPr lang="zh-CN" altLang="en-US"/>
              <a:t>模型（论文未发表阶段，暂未公开）：</a:t>
            </a:r>
            <a:r>
              <a:rPr lang="en-US" altLang="zh-CN">
                <a:hlinkClick r:id="rId3"/>
              </a:rPr>
              <a:t> NoahIsARider/TTFND-MM</a:t>
            </a:r>
            <a:endParaRPr lang="en-US" altLang="zh-CN"/>
          </a:p>
          <a:p>
            <a:r>
              <a:rPr lang="zh-CN" altLang="en-US" b="1">
                <a:highlight>
                  <a:srgbClr val="C0C0C0"/>
                </a:highlight>
              </a:rPr>
              <a:t>多智能体</a:t>
            </a:r>
            <a:r>
              <a:rPr lang="zh-CN" altLang="en-US"/>
              <a:t>软件项目管理系统：</a:t>
            </a:r>
            <a:r>
              <a:rPr lang="en-US" altLang="zh-CN">
                <a:hlinkClick r:id="rId4"/>
              </a:rPr>
              <a:t>NoahIsARider/MatchaFlow</a:t>
            </a:r>
            <a:endParaRPr lang="en-US" altLang="zh-CN"/>
          </a:p>
          <a:p>
            <a:r>
              <a:rPr lang="zh-CN" altLang="en-US"/>
              <a:t>基于</a:t>
            </a:r>
            <a:r>
              <a:rPr lang="en-US" altLang="zh-CN" b="1">
                <a:highlight>
                  <a:srgbClr val="C0C0C0"/>
                </a:highlight>
              </a:rPr>
              <a:t>gRPC</a:t>
            </a:r>
            <a:r>
              <a:rPr lang="zh-CN" altLang="en-US"/>
              <a:t>的云端与本地动态协作人脸识别系统：</a:t>
            </a:r>
            <a:r>
              <a:rPr lang="en-US" altLang="zh-CN">
                <a:hlinkClick r:id="rId5"/>
              </a:rPr>
              <a:t>NoahIsARider/DLFaceDetection: </a:t>
            </a:r>
            <a:r>
              <a:rPr lang="zh-CN" altLang="en-US">
                <a:hlinkClick r:id="rId5"/>
              </a:rPr>
              <a:t>基于</a:t>
            </a:r>
            <a:r>
              <a:rPr lang="en-US" altLang="zh-CN">
                <a:hlinkClick r:id="rId5"/>
              </a:rPr>
              <a:t>gRPC</a:t>
            </a:r>
            <a:r>
              <a:rPr lang="zh-CN" altLang="en-US">
                <a:hlinkClick r:id="rId5"/>
              </a:rPr>
              <a:t>技术的分布式人脸识别系统</a:t>
            </a:r>
            <a:endParaRPr lang="en-US" altLang="zh-CN"/>
          </a:p>
          <a:p>
            <a:r>
              <a:rPr lang="zh-CN" altLang="en-US"/>
              <a:t>动态检测与静态检测结合的</a:t>
            </a:r>
            <a:r>
              <a:rPr lang="zh-CN" altLang="en-US" b="1">
                <a:highlight>
                  <a:srgbClr val="C0C0C0"/>
                </a:highlight>
              </a:rPr>
              <a:t>大模型幻觉检测</a:t>
            </a:r>
            <a:r>
              <a:rPr lang="zh-CN" altLang="en-US"/>
              <a:t>系统：</a:t>
            </a:r>
            <a:r>
              <a:rPr lang="en-US" altLang="zh-CN">
                <a:hlinkClick r:id="rId6"/>
              </a:rPr>
              <a:t> NoahIsARider/SDHD</a:t>
            </a:r>
            <a:endParaRPr lang="en-US" altLang="zh-CN"/>
          </a:p>
          <a:p>
            <a:r>
              <a:rPr lang="en-US" altLang="zh-CN"/>
              <a:t>SRS</a:t>
            </a:r>
            <a:r>
              <a:rPr lang="zh-CN" altLang="en-US"/>
              <a:t>智能开发系统：</a:t>
            </a:r>
            <a:r>
              <a:rPr lang="en-US" altLang="zh-CN">
                <a:hlinkClick r:id="rId7"/>
              </a:rPr>
              <a:t>NoahIsARider/Pythia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F013F76-2511-7FAE-8810-73A51768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68" y="3100224"/>
            <a:ext cx="5573322" cy="3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E18AAB-A868-10E8-9CF9-4224DB0BF3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3564" y="3100224"/>
            <a:ext cx="5935804" cy="3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135622" y="1139014"/>
            <a:ext cx="3920756" cy="229633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7000"/>
              </a:lnSpc>
            </a:pPr>
            <a:r>
              <a:rPr lang="en-US" altLang="zh-CN" sz="5867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Re: </a:t>
            </a:r>
            <a:r>
              <a:rPr lang="en-US" altLang="zh-CN" sz="5867" i="1" dirty="0">
                <a:latin typeface="Book Antiqua" panose="02040602050305030304" pitchFamily="18" charset="0"/>
              </a:rPr>
              <a:t>Life</a:t>
            </a:r>
            <a:endParaRPr sz="2400"/>
          </a:p>
        </p:txBody>
      </p:sp>
      <p:sp>
        <p:nvSpPr>
          <p:cNvPr id="168" name="Shape 2"/>
          <p:cNvSpPr/>
          <p:nvPr/>
        </p:nvSpPr>
        <p:spPr>
          <a:xfrm>
            <a:off x="419099" y="4080935"/>
            <a:ext cx="1948319" cy="188806"/>
          </a:xfrm>
          <a:prstGeom prst="rect">
            <a:avLst/>
          </a:prstGeom>
          <a:solidFill>
            <a:srgbClr val="FB9174"/>
          </a:solidFill>
        </p:spPr>
        <p:txBody>
          <a:bodyPr/>
          <a:lstStyle/>
          <a:p>
            <a:endParaRPr sz="2400"/>
          </a:p>
        </p:txBody>
      </p:sp>
      <p:sp>
        <p:nvSpPr>
          <p:cNvPr id="169" name="Text 3"/>
          <p:cNvSpPr/>
          <p:nvPr/>
        </p:nvSpPr>
        <p:spPr>
          <a:xfrm>
            <a:off x="419099" y="4401264"/>
            <a:ext cx="2017211" cy="92455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zh-CN" altLang="en-US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设计能力</a:t>
            </a:r>
            <a:endParaRPr lang="en-US" altLang="zh-CN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 b="1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接下来是视觉部分：</a:t>
            </a:r>
            <a:endParaRPr lang="en-US" altLang="zh-CN" sz="1300" b="1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所有内容均为本人在课堂作业或课外实践中设计实现</a:t>
            </a:r>
            <a:endParaRPr lang="en-US" altLang="zh-CN" sz="1300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包括本页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28C412E7-074F-4718-3673-77C009DDB610}"/>
              </a:ext>
            </a:extLst>
          </p:cNvPr>
          <p:cNvSpPr/>
          <p:nvPr/>
        </p:nvSpPr>
        <p:spPr>
          <a:xfrm>
            <a:off x="0" y="0"/>
            <a:ext cx="12192000" cy="7014258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3701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1408973" y="5427677"/>
            <a:ext cx="590608" cy="1836534"/>
            <a:chOff x="0" y="0"/>
            <a:chExt cx="1181216" cy="3673068"/>
          </a:xfrm>
        </p:grpSpPr>
        <p:sp>
          <p:nvSpPr>
            <p:cNvPr id="4" name="AutoShape 4"/>
            <p:cNvSpPr/>
            <p:nvPr/>
          </p:nvSpPr>
          <p:spPr>
            <a:xfrm flipV="1">
              <a:off x="32503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431265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537494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 flipV="1">
              <a:off x="643723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749951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85618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96240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106863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117486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635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11257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21880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11723360" y="6629810"/>
            <a:ext cx="503750" cy="137115"/>
            <a:chOff x="0" y="0"/>
            <a:chExt cx="228720" cy="622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720" cy="62255"/>
            </a:xfrm>
            <a:custGeom>
              <a:avLst/>
              <a:gdLst/>
              <a:ahLst/>
              <a:cxnLst/>
              <a:rect l="l" t="t" r="r" b="b"/>
              <a:pathLst>
                <a:path w="228720" h="62255">
                  <a:moveTo>
                    <a:pt x="0" y="0"/>
                  </a:moveTo>
                  <a:lnTo>
                    <a:pt x="228720" y="0"/>
                  </a:lnTo>
                  <a:lnTo>
                    <a:pt x="228720" y="62255"/>
                  </a:lnTo>
                  <a:lnTo>
                    <a:pt x="0" y="62255"/>
                  </a:lnTo>
                  <a:close/>
                </a:path>
              </a:pathLst>
            </a:custGeom>
            <a:solidFill>
              <a:srgbClr val="EBEEF3">
                <a:alpha val="8000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28720" cy="109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-473457" y="68108"/>
            <a:ext cx="1517438" cy="729537"/>
            <a:chOff x="0" y="0"/>
            <a:chExt cx="660400" cy="317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9592078" y="-629963"/>
            <a:ext cx="2632013" cy="608241"/>
            <a:chOff x="0" y="0"/>
            <a:chExt cx="5264026" cy="1216481"/>
          </a:xfrm>
        </p:grpSpPr>
        <p:sp>
          <p:nvSpPr>
            <p:cNvPr id="23" name="AutoShape 23"/>
            <p:cNvSpPr/>
            <p:nvPr/>
          </p:nvSpPr>
          <p:spPr>
            <a:xfrm>
              <a:off x="0" y="935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0" y="15907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0" y="308799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0" y="45852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0" y="60824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0" y="757961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0" y="907682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0" y="105740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0" y="120712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61477" y="845441"/>
            <a:ext cx="144723" cy="14472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>
                <a:alpha val="68627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650030" y="794797"/>
            <a:ext cx="4809588" cy="3004327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976422" y="794797"/>
            <a:ext cx="4809588" cy="3004327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50030" y="3847012"/>
            <a:ext cx="4809588" cy="3010989"/>
          </a:xfrm>
          <a:custGeom>
            <a:avLst/>
            <a:gdLst/>
            <a:ahLst/>
            <a:cxnLst/>
            <a:rect l="l" t="t" r="r" b="b"/>
            <a:pathLst>
              <a:path w="7214382" h="4516483">
                <a:moveTo>
                  <a:pt x="0" y="0"/>
                </a:moveTo>
                <a:lnTo>
                  <a:pt x="7214382" y="0"/>
                </a:lnTo>
                <a:lnTo>
                  <a:pt x="7214382" y="4516483"/>
                </a:lnTo>
                <a:lnTo>
                  <a:pt x="0" y="4516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976423" y="3853673"/>
            <a:ext cx="4798947" cy="3004327"/>
          </a:xfrm>
          <a:custGeom>
            <a:avLst/>
            <a:gdLst/>
            <a:ahLst/>
            <a:cxnLst/>
            <a:rect l="l" t="t" r="r" b="b"/>
            <a:pathLst>
              <a:path w="7198421" h="4506491">
                <a:moveTo>
                  <a:pt x="0" y="0"/>
                </a:moveTo>
                <a:lnTo>
                  <a:pt x="7198421" y="0"/>
                </a:lnTo>
                <a:lnTo>
                  <a:pt x="7198421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85801" y="102646"/>
            <a:ext cx="9716879" cy="660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lang="en-US" altLang="zh-CN" sz="4000" spc="392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AIFrameQuest</a:t>
            </a:r>
            <a:r>
              <a:rPr lang="zh-CN" altLang="en-US" sz="4000" spc="392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系统</a:t>
            </a:r>
            <a:r>
              <a:rPr lang="zh-CN" altLang="en-US" sz="4000" spc="392" dirty="0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展示</a:t>
            </a:r>
            <a:r>
              <a:rPr lang="en-US" altLang="zh-CN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-</a:t>
            </a:r>
            <a:r>
              <a:rPr lang="zh-CN" altLang="en-US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系统</a:t>
            </a:r>
            <a:r>
              <a:rPr lang="en-US" sz="4000" spc="392" dirty="0" err="1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实况图</a:t>
            </a:r>
            <a:endParaRPr lang="en-US" sz="4000" spc="392" dirty="0">
              <a:solidFill>
                <a:srgbClr val="5271FF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5" hidden="1"/>
          <p:cNvSpPr/>
          <p:nvPr/>
        </p:nvSpPr>
        <p:spPr>
          <a:xfrm>
            <a:off x="-5600076" y="458670"/>
            <a:ext cx="27629736" cy="15541727"/>
          </a:xfrm>
          <a:prstGeom prst="rect">
            <a:avLst/>
          </a:prstGeom>
          <a:solidFill>
            <a:srgbClr val="DFD8D0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3" name="图片 5" hidden="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8683" y="-793419"/>
            <a:ext cx="12481387" cy="17279869"/>
          </a:xfrm>
          <a:prstGeom prst="rect">
            <a:avLst/>
          </a:prstGeom>
        </p:spPr>
      </p:pic>
      <p:grpSp>
        <p:nvGrpSpPr>
          <p:cNvPr id="6" name="组合 83"/>
          <p:cNvGrpSpPr/>
          <p:nvPr/>
        </p:nvGrpSpPr>
        <p:grpSpPr>
          <a:xfrm>
            <a:off x="2063552" y="2456390"/>
            <a:ext cx="7772664" cy="7126900"/>
            <a:chOff x="957126" y="1676630"/>
            <a:chExt cx="6207162" cy="5798869"/>
          </a:xfrm>
        </p:grpSpPr>
        <p:sp>
          <p:nvSpPr>
            <p:cNvPr id="7" name="梯形 7"/>
            <p:cNvSpPr/>
            <p:nvPr/>
          </p:nvSpPr>
          <p:spPr>
            <a:xfrm rot="8092747">
              <a:off x="2668934" y="3979199"/>
              <a:ext cx="5397226" cy="792088"/>
            </a:xfrm>
            <a:prstGeom prst="trapezoid">
              <a:avLst>
                <a:gd name="adj" fmla="val 34296"/>
              </a:avLst>
            </a:prstGeom>
            <a:solidFill>
              <a:srgbClr val="ADAB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" name="斜纹 8"/>
            <p:cNvSpPr/>
            <p:nvPr/>
          </p:nvSpPr>
          <p:spPr>
            <a:xfrm rot="8100000">
              <a:off x="957126" y="4357476"/>
              <a:ext cx="2016224" cy="2016224"/>
            </a:xfrm>
            <a:custGeom>
              <a:avLst/>
              <a:gdLst/>
              <a:ahLst/>
              <a:cxnLst/>
              <a:rect l="l" t="t" r="r" b="b"/>
              <a:pathLst>
                <a:path w="2016224" h="2016224">
                  <a:moveTo>
                    <a:pt x="1980734" y="35489"/>
                  </a:moveTo>
                  <a:lnTo>
                    <a:pt x="1945245" y="0"/>
                  </a:lnTo>
                  <a:lnTo>
                    <a:pt x="2016224" y="0"/>
                  </a:lnTo>
                  <a:close/>
                  <a:moveTo>
                    <a:pt x="0" y="2016224"/>
                  </a:moveTo>
                  <a:lnTo>
                    <a:pt x="0" y="1836740"/>
                  </a:lnTo>
                  <a:lnTo>
                    <a:pt x="923563" y="913177"/>
                  </a:lnTo>
                  <a:lnTo>
                    <a:pt x="1013305" y="1002919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9" name="直接连接符 11"/>
            <p:cNvCxnSpPr/>
            <p:nvPr/>
          </p:nvCxnSpPr>
          <p:spPr>
            <a:xfrm>
              <a:off x="1965238" y="3939902"/>
              <a:ext cx="1368152" cy="136815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5"/>
            <p:cNvCxnSpPr/>
            <p:nvPr/>
          </p:nvCxnSpPr>
          <p:spPr>
            <a:xfrm flipH="1">
              <a:off x="3349070" y="4459380"/>
              <a:ext cx="862890" cy="84867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28"/>
            <p:cNvCxnSpPr/>
            <p:nvPr/>
          </p:nvCxnSpPr>
          <p:spPr>
            <a:xfrm>
              <a:off x="1763688" y="3831890"/>
              <a:ext cx="720080" cy="75608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37"/>
            <p:cNvCxnSpPr/>
            <p:nvPr/>
          </p:nvCxnSpPr>
          <p:spPr>
            <a:xfrm>
              <a:off x="2789538" y="4857648"/>
              <a:ext cx="560489" cy="580730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43"/>
            <p:cNvCxnSpPr/>
            <p:nvPr/>
          </p:nvCxnSpPr>
          <p:spPr>
            <a:xfrm>
              <a:off x="2316637" y="2499742"/>
              <a:ext cx="1524659" cy="298833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44"/>
            <p:cNvSpPr/>
            <p:nvPr/>
          </p:nvSpPr>
          <p:spPr>
            <a:xfrm>
              <a:off x="2719948" y="3607223"/>
              <a:ext cx="3868276" cy="3868276"/>
            </a:xfrm>
            <a:custGeom>
              <a:avLst/>
              <a:gdLst/>
              <a:ahLst/>
              <a:cxnLst/>
              <a:rect l="l" t="t" r="r" b="b"/>
              <a:pathLst>
                <a:path w="3868276" h="3868276">
                  <a:moveTo>
                    <a:pt x="1934138" y="0"/>
                  </a:moveTo>
                  <a:cubicBezTo>
                    <a:pt x="3002333" y="0"/>
                    <a:pt x="3868276" y="865943"/>
                    <a:pt x="3868276" y="1934138"/>
                  </a:cubicBezTo>
                  <a:cubicBezTo>
                    <a:pt x="3868276" y="3002333"/>
                    <a:pt x="3002333" y="3868276"/>
                    <a:pt x="1934138" y="3868276"/>
                  </a:cubicBezTo>
                  <a:cubicBezTo>
                    <a:pt x="865943" y="3868276"/>
                    <a:pt x="0" y="3002333"/>
                    <a:pt x="0" y="1934138"/>
                  </a:cubicBezTo>
                  <a:cubicBezTo>
                    <a:pt x="0" y="1512138"/>
                    <a:pt x="135149" y="1121703"/>
                    <a:pt x="366102" y="804893"/>
                  </a:cubicBezTo>
                  <a:lnTo>
                    <a:pt x="641329" y="1080120"/>
                  </a:lnTo>
                  <a:lnTo>
                    <a:pt x="1654062" y="67387"/>
                  </a:lnTo>
                  <a:lnTo>
                    <a:pt x="1615161" y="28487"/>
                  </a:lnTo>
                  <a:cubicBezTo>
                    <a:pt x="1718673" y="8981"/>
                    <a:pt x="1825357" y="0"/>
                    <a:pt x="1934138" y="0"/>
                  </a:cubicBezTo>
                  <a:close/>
                </a:path>
              </a:pathLst>
            </a:custGeom>
            <a:noFill/>
            <a:ln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5" name="梯形 34"/>
            <p:cNvSpPr/>
            <p:nvPr/>
          </p:nvSpPr>
          <p:spPr>
            <a:xfrm rot="8100000">
              <a:off x="3049292" y="3866215"/>
              <a:ext cx="2076679" cy="108000"/>
            </a:xfrm>
            <a:custGeom>
              <a:avLst/>
              <a:gdLst/>
              <a:ahLst/>
              <a:cxnLst/>
              <a:rect l="l" t="t" r="r" b="b"/>
              <a:pathLst>
                <a:path w="2076679" h="108000">
                  <a:moveTo>
                    <a:pt x="0" y="108000"/>
                  </a:moveTo>
                  <a:lnTo>
                    <a:pt x="93512" y="0"/>
                  </a:lnTo>
                  <a:lnTo>
                    <a:pt x="2076225" y="0"/>
                  </a:lnTo>
                  <a:lnTo>
                    <a:pt x="2076679" y="10800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" name="梯形 32"/>
            <p:cNvSpPr/>
            <p:nvPr/>
          </p:nvSpPr>
          <p:spPr>
            <a:xfrm rot="13500000">
              <a:off x="2191709" y="4120865"/>
              <a:ext cx="1416178" cy="108000"/>
            </a:xfrm>
            <a:custGeom>
              <a:avLst/>
              <a:gdLst/>
              <a:ahLst/>
              <a:cxnLst/>
              <a:rect l="l" t="t" r="r" b="b"/>
              <a:pathLst>
                <a:path w="1416178" h="108000">
                  <a:moveTo>
                    <a:pt x="1416178" y="108000"/>
                  </a:moveTo>
                  <a:lnTo>
                    <a:pt x="191" y="108000"/>
                  </a:lnTo>
                  <a:lnTo>
                    <a:pt x="0" y="0"/>
                  </a:lnTo>
                  <a:lnTo>
                    <a:pt x="1322666" y="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" name="直角三角形 47"/>
            <p:cNvSpPr/>
            <p:nvPr/>
          </p:nvSpPr>
          <p:spPr>
            <a:xfrm>
              <a:off x="4355976" y="4443958"/>
              <a:ext cx="2088232" cy="2088232"/>
            </a:xfrm>
            <a:prstGeom prst="rtTriangle">
              <a:avLst/>
            </a:prstGeom>
            <a:noFill/>
            <a:ln w="19050"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18" name="直接连接符 51"/>
            <p:cNvCxnSpPr/>
            <p:nvPr/>
          </p:nvCxnSpPr>
          <p:spPr>
            <a:xfrm flipV="1">
              <a:off x="3438677" y="2499742"/>
              <a:ext cx="3725611" cy="3600400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梯形 52"/>
            <p:cNvSpPr/>
            <p:nvPr/>
          </p:nvSpPr>
          <p:spPr>
            <a:xfrm rot="18900000">
              <a:off x="4211760" y="5042599"/>
              <a:ext cx="700803" cy="167675"/>
            </a:xfrm>
            <a:custGeom>
              <a:avLst/>
              <a:gdLst/>
              <a:ahLst/>
              <a:cxnLst/>
              <a:rect l="l" t="t" r="r" b="b"/>
              <a:pathLst>
                <a:path w="700803" h="159174">
                  <a:moveTo>
                    <a:pt x="696796" y="0"/>
                  </a:moveTo>
                  <a:lnTo>
                    <a:pt x="700803" y="159174"/>
                  </a:lnTo>
                  <a:lnTo>
                    <a:pt x="0" y="159174"/>
                  </a:lnTo>
                  <a:lnTo>
                    <a:pt x="145974" y="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E1E1E1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20" name="直接连接符 55"/>
            <p:cNvCxnSpPr/>
            <p:nvPr/>
          </p:nvCxnSpPr>
          <p:spPr>
            <a:xfrm>
              <a:off x="4752000" y="3435846"/>
              <a:ext cx="0" cy="1387255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56"/>
            <p:cNvCxnSpPr/>
            <p:nvPr/>
          </p:nvCxnSpPr>
          <p:spPr>
            <a:xfrm>
              <a:off x="4154426" y="3516304"/>
              <a:ext cx="0" cy="1197440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59"/>
            <p:cNvCxnSpPr/>
            <p:nvPr/>
          </p:nvCxnSpPr>
          <p:spPr>
            <a:xfrm>
              <a:off x="4211960" y="4459380"/>
              <a:ext cx="0" cy="84867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81"/>
          <p:cNvGrpSpPr/>
          <p:nvPr/>
        </p:nvGrpSpPr>
        <p:grpSpPr>
          <a:xfrm>
            <a:off x="5280000" y="5061725"/>
            <a:ext cx="5870501" cy="5443060"/>
            <a:chOff x="3605841" y="4066908"/>
            <a:chExt cx="4402876" cy="4082295"/>
          </a:xfrm>
        </p:grpSpPr>
        <p:sp>
          <p:nvSpPr>
            <p:cNvPr id="24" name="六边形 50"/>
            <p:cNvSpPr/>
            <p:nvPr/>
          </p:nvSpPr>
          <p:spPr>
            <a:xfrm rot="20704130">
              <a:off x="3605841" y="4353620"/>
              <a:ext cx="4402876" cy="3795583"/>
            </a:xfrm>
            <a:prstGeom prst="hexagon">
              <a:avLst/>
            </a:prstGeom>
            <a:noFill/>
            <a:ln w="38100"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5" name="椭圆 53"/>
            <p:cNvSpPr/>
            <p:nvPr/>
          </p:nvSpPr>
          <p:spPr>
            <a:xfrm>
              <a:off x="6444208" y="4066908"/>
              <a:ext cx="144016" cy="144016"/>
            </a:xfrm>
            <a:prstGeom prst="ellipse">
              <a:avLst/>
            </a:prstGeom>
            <a:solidFill>
              <a:srgbClr val="ADABA6"/>
            </a:solidFill>
            <a:ln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椭圆 63"/>
            <p:cNvSpPr/>
            <p:nvPr/>
          </p:nvSpPr>
          <p:spPr>
            <a:xfrm>
              <a:off x="5945224" y="5210035"/>
              <a:ext cx="144016" cy="144016"/>
            </a:xfrm>
            <a:prstGeom prst="ellipse">
              <a:avLst/>
            </a:prstGeom>
            <a:solidFill>
              <a:srgbClr val="ADABA6"/>
            </a:solidFill>
            <a:ln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57"/>
            <p:cNvCxnSpPr>
              <a:stCxn id="26" idx="4"/>
              <a:endCxn id="25" idx="7"/>
            </p:cNvCxnSpPr>
            <p:nvPr/>
          </p:nvCxnSpPr>
          <p:spPr>
            <a:xfrm flipV="1">
              <a:off x="6017232" y="4087999"/>
              <a:ext cx="549901" cy="1266052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64"/>
            <p:cNvCxnSpPr>
              <a:stCxn id="26" idx="6"/>
            </p:cNvCxnSpPr>
            <p:nvPr/>
          </p:nvCxnSpPr>
          <p:spPr>
            <a:xfrm>
              <a:off x="6089240" y="5282043"/>
              <a:ext cx="944192" cy="441692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68"/>
            <p:cNvCxnSpPr>
              <a:endCxn id="26" idx="1"/>
            </p:cNvCxnSpPr>
            <p:nvPr/>
          </p:nvCxnSpPr>
          <p:spPr>
            <a:xfrm>
              <a:off x="4960069" y="5035576"/>
              <a:ext cx="1006246" cy="195550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70"/>
            <p:cNvCxnSpPr/>
            <p:nvPr/>
          </p:nvCxnSpPr>
          <p:spPr>
            <a:xfrm flipH="1">
              <a:off x="5148064" y="5282043"/>
              <a:ext cx="869168" cy="890107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74"/>
            <p:cNvCxnSpPr>
              <a:stCxn id="26" idx="5"/>
            </p:cNvCxnSpPr>
            <p:nvPr/>
          </p:nvCxnSpPr>
          <p:spPr>
            <a:xfrm>
              <a:off x="6068149" y="5332960"/>
              <a:ext cx="376059" cy="1199230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76"/>
            <p:cNvCxnSpPr/>
            <p:nvPr/>
          </p:nvCxnSpPr>
          <p:spPr>
            <a:xfrm>
              <a:off x="6552477" y="4209932"/>
              <a:ext cx="545684" cy="1478155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78"/>
            <p:cNvCxnSpPr/>
            <p:nvPr/>
          </p:nvCxnSpPr>
          <p:spPr>
            <a:xfrm flipH="1">
              <a:off x="4873192" y="4174865"/>
              <a:ext cx="1621818" cy="1078543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84"/>
          <p:cNvGrpSpPr/>
          <p:nvPr/>
        </p:nvGrpSpPr>
        <p:grpSpPr>
          <a:xfrm>
            <a:off x="3552000" y="3549910"/>
            <a:ext cx="7082805" cy="4007548"/>
            <a:chOff x="2440697" y="1946794"/>
            <a:chExt cx="5436392" cy="4009332"/>
          </a:xfrm>
        </p:grpSpPr>
        <p:cxnSp>
          <p:nvCxnSpPr>
            <p:cNvPr id="35" name="直接连接符 61"/>
            <p:cNvCxnSpPr/>
            <p:nvPr/>
          </p:nvCxnSpPr>
          <p:spPr>
            <a:xfrm>
              <a:off x="4154426" y="5020022"/>
              <a:ext cx="0" cy="21602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66"/>
            <p:cNvCxnSpPr/>
            <p:nvPr/>
          </p:nvCxnSpPr>
          <p:spPr>
            <a:xfrm>
              <a:off x="5301482" y="3795886"/>
              <a:ext cx="0" cy="495055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72"/>
            <p:cNvCxnSpPr/>
            <p:nvPr/>
          </p:nvCxnSpPr>
          <p:spPr>
            <a:xfrm>
              <a:off x="5301482" y="3795886"/>
              <a:ext cx="1718790" cy="1692188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2"/>
            <p:cNvCxnSpPr/>
            <p:nvPr/>
          </p:nvCxnSpPr>
          <p:spPr>
            <a:xfrm rot="21540000" flipV="1">
              <a:off x="6336000" y="2067694"/>
              <a:ext cx="1368152" cy="1304594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0"/>
            <p:cNvCxnSpPr/>
            <p:nvPr/>
          </p:nvCxnSpPr>
          <p:spPr>
            <a:xfrm flipV="1">
              <a:off x="7530209" y="1946794"/>
              <a:ext cx="346880" cy="342880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18"/>
            <p:cNvCxnSpPr/>
            <p:nvPr/>
          </p:nvCxnSpPr>
          <p:spPr>
            <a:xfrm>
              <a:off x="6912000" y="2055854"/>
              <a:ext cx="0" cy="64246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39"/>
            <p:cNvCxnSpPr/>
            <p:nvPr/>
          </p:nvCxnSpPr>
          <p:spPr>
            <a:xfrm>
              <a:off x="6912000" y="2859782"/>
              <a:ext cx="0" cy="40864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21"/>
            <p:cNvCxnSpPr/>
            <p:nvPr/>
          </p:nvCxnSpPr>
          <p:spPr>
            <a:xfrm>
              <a:off x="5580112" y="4115024"/>
              <a:ext cx="0" cy="184110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23"/>
            <p:cNvCxnSpPr/>
            <p:nvPr/>
          </p:nvCxnSpPr>
          <p:spPr>
            <a:xfrm>
              <a:off x="5688000" y="4043413"/>
              <a:ext cx="0" cy="779688"/>
            </a:xfrm>
            <a:prstGeom prst="line">
              <a:avLst/>
            </a:prstGeom>
            <a:ln w="9525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25"/>
            <p:cNvCxnSpPr/>
            <p:nvPr/>
          </p:nvCxnSpPr>
          <p:spPr>
            <a:xfrm rot="60000">
              <a:off x="4932000" y="3516304"/>
              <a:ext cx="936104" cy="91695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6"/>
            <p:cNvCxnSpPr/>
            <p:nvPr/>
          </p:nvCxnSpPr>
          <p:spPr>
            <a:xfrm>
              <a:off x="6037631" y="4554923"/>
              <a:ext cx="123463" cy="125234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31"/>
            <p:cNvCxnSpPr/>
            <p:nvPr/>
          </p:nvCxnSpPr>
          <p:spPr>
            <a:xfrm flipV="1">
              <a:off x="3744000" y="4543844"/>
              <a:ext cx="507505" cy="491732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0"/>
            <p:cNvCxnSpPr/>
            <p:nvPr/>
          </p:nvCxnSpPr>
          <p:spPr>
            <a:xfrm flipV="1">
              <a:off x="4427984" y="2571750"/>
              <a:ext cx="1152128" cy="1152128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5"/>
            <p:cNvCxnSpPr/>
            <p:nvPr/>
          </p:nvCxnSpPr>
          <p:spPr>
            <a:xfrm>
              <a:off x="2440697" y="3672032"/>
              <a:ext cx="0" cy="1153724"/>
            </a:xfrm>
            <a:prstGeom prst="line">
              <a:avLst/>
            </a:prstGeom>
            <a:ln w="28575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梯形 48"/>
            <p:cNvSpPr/>
            <p:nvPr/>
          </p:nvSpPr>
          <p:spPr>
            <a:xfrm rot="16200000">
              <a:off x="6381074" y="4848872"/>
              <a:ext cx="1170131" cy="108273"/>
            </a:xfrm>
            <a:custGeom>
              <a:avLst/>
              <a:gdLst/>
              <a:ahLst/>
              <a:cxnLst/>
              <a:rect l="l" t="t" r="r" b="b"/>
              <a:pathLst>
                <a:path w="1170131" h="108273">
                  <a:moveTo>
                    <a:pt x="1170131" y="0"/>
                  </a:moveTo>
                  <a:lnTo>
                    <a:pt x="1170131" y="108273"/>
                  </a:lnTo>
                  <a:lnTo>
                    <a:pt x="0" y="108273"/>
                  </a:lnTo>
                  <a:lnTo>
                    <a:pt x="109342" y="0"/>
                  </a:lnTo>
                  <a:close/>
                </a:path>
              </a:pathLst>
            </a:custGeom>
            <a:solidFill>
              <a:srgbClr val="3A4750"/>
            </a:solidFill>
            <a:ln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50" name="矩形 9" hidden="1"/>
          <p:cNvSpPr/>
          <p:nvPr/>
        </p:nvSpPr>
        <p:spPr>
          <a:xfrm>
            <a:off x="-223829" y="2"/>
            <a:ext cx="13232596" cy="7868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1" name="TextBox 86"/>
          <p:cNvSpPr txBox="1"/>
          <p:nvPr/>
        </p:nvSpPr>
        <p:spPr>
          <a:xfrm>
            <a:off x="162689" y="218373"/>
            <a:ext cx="657019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altLang="zh-CN" sz="5333" dirty="0">
                <a:solidFill>
                  <a:srgbClr val="3A4750"/>
                </a:solidFill>
                <a:latin typeface="Ostrich Sans Black" pitchFamily="50" charset="0"/>
                <a:ea typeface="Kozuka Gothic Pr6N B" pitchFamily="34" charset="-128"/>
                <a:cs typeface="Open Sans Extrabold" panose="020B0906030804020204" pitchFamily="34" charset="0"/>
              </a:rPr>
              <a:t>There’s </a:t>
            </a:r>
            <a:r>
              <a:rPr lang="en-US" altLang="zh-CN" sz="5333" dirty="0">
                <a:solidFill>
                  <a:srgbClr val="DE5589"/>
                </a:solidFill>
                <a:latin typeface="Ostrich Sans Black" pitchFamily="50" charset="0"/>
                <a:ea typeface="Kozuka Gothic Pr6N B" pitchFamily="34" charset="-128"/>
                <a:cs typeface="Open Sans Extrabold" panose="020B0906030804020204" pitchFamily="34" charset="0"/>
              </a:rPr>
              <a:t>still</a:t>
            </a:r>
          </a:p>
        </p:txBody>
      </p:sp>
      <p:sp>
        <p:nvSpPr>
          <p:cNvPr id="52" name="TextBox 88"/>
          <p:cNvSpPr txBox="1"/>
          <p:nvPr/>
        </p:nvSpPr>
        <p:spPr>
          <a:xfrm>
            <a:off x="-7697" y="605747"/>
            <a:ext cx="4647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altLang="zh-CN" sz="5867" dirty="0">
                <a:solidFill>
                  <a:srgbClr val="3A4750"/>
                </a:solidFill>
                <a:latin typeface="Kozuka Gothic Pr6N B" pitchFamily="34" charset="-128"/>
                <a:ea typeface="Kozuka Gothic Pr6N B" pitchFamily="34" charset="-128"/>
                <a:cs typeface="Open Sans Extrabold" panose="020B0906030804020204" pitchFamily="34" charset="0"/>
              </a:rPr>
              <a:t> </a:t>
            </a:r>
            <a:r>
              <a:rPr lang="en-US" sz="8000" dirty="0">
                <a:solidFill>
                  <a:srgbClr val="3A4750"/>
                </a:solidFill>
                <a:latin typeface="Ostrich Sans Black" pitchFamily="50" charset="0"/>
                <a:ea typeface="Adobe Gothic Std B" pitchFamily="34" charset="-128"/>
                <a:cs typeface="Open Sans Extrabold" panose="020B0906030804020204" pitchFamily="34" charset="0"/>
              </a:rPr>
              <a:t>tomorrow</a:t>
            </a:r>
            <a:endParaRPr lang="en-US" sz="8000" dirty="0">
              <a:solidFill>
                <a:prstClr val="black"/>
              </a:solidFill>
              <a:latin typeface="Ostrich Sans Black" pitchFamily="5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795431" y="1095085"/>
            <a:ext cx="1669627" cy="2389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133" dirty="0">
                <a:solidFill>
                  <a:srgbClr val="DE558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小组成员：</a:t>
            </a:r>
          </a:p>
          <a:p>
            <a:pPr defTabSz="1219170"/>
            <a:r>
              <a:rPr lang="zh-CN" altLang="en-US" sz="2133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周方亚诺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endParaRPr lang="en-US" altLang="zh-CN" sz="2133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576061" y="1028701"/>
            <a:ext cx="4224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0482" y="1783603"/>
            <a:ext cx="3739948" cy="18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3733" dirty="0">
                <a:solidFill>
                  <a:srgbClr val="DE5589"/>
                </a:solidFill>
                <a:latin typeface="Calibri"/>
                <a:ea typeface="宋体" panose="02010600030101010101" pitchFamily="2" charset="-122"/>
              </a:rPr>
              <a:t>还有明天：</a:t>
            </a:r>
            <a:br>
              <a:rPr lang="en-US" altLang="zh-CN" sz="3733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</a:br>
            <a:r>
              <a:rPr lang="zh-CN" altLang="en-US" sz="3733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影像中的</a:t>
            </a:r>
            <a:endParaRPr lang="en-US" altLang="zh-CN" sz="3733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defTabSz="1219170"/>
            <a:r>
              <a:rPr lang="zh-CN" altLang="en-US" sz="3733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马克思主义原理</a:t>
            </a:r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BF952670-A69A-92EF-3254-463B7D9D7B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799" y="716042"/>
            <a:ext cx="2916159" cy="291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6CB5A6-CFD5-CB2D-DD89-5DEF4092A5B5}"/>
              </a:ext>
            </a:extLst>
          </p:cNvPr>
          <p:cNvSpPr txBox="1"/>
          <p:nvPr/>
        </p:nvSpPr>
        <p:spPr>
          <a:xfrm rot="21255276">
            <a:off x="10440115" y="665828"/>
            <a:ext cx="1403475" cy="420564"/>
          </a:xfrm>
          <a:prstGeom prst="rect">
            <a:avLst/>
          </a:prstGeom>
          <a:solidFill>
            <a:srgbClr val="DE5589"/>
          </a:solidFill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133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第八小组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501505" y="3335387"/>
            <a:ext cx="6858000" cy="18722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 sz="1200"/>
          </a:p>
        </p:txBody>
      </p:sp>
      <p:sp>
        <p:nvSpPr>
          <p:cNvPr id="3" name="Freeform 3"/>
          <p:cNvSpPr/>
          <p:nvPr/>
        </p:nvSpPr>
        <p:spPr>
          <a:xfrm>
            <a:off x="-26757" y="0"/>
            <a:ext cx="4888222" cy="6858000"/>
          </a:xfrm>
          <a:custGeom>
            <a:avLst/>
            <a:gdLst/>
            <a:ahLst/>
            <a:cxnLst/>
            <a:rect l="l" t="t" r="r" b="b"/>
            <a:pathLst>
              <a:path w="7863917" h="10287000">
                <a:moveTo>
                  <a:pt x="0" y="0"/>
                </a:moveTo>
                <a:lnTo>
                  <a:pt x="7863917" y="0"/>
                </a:lnTo>
                <a:lnTo>
                  <a:pt x="78639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-93754" r="-109057" b="-13375"/>
            </a:stretch>
          </a:blipFill>
        </p:spPr>
        <p:txBody>
          <a:bodyPr/>
          <a:lstStyle/>
          <a:p>
            <a:endParaRPr lang="zh-CN" alt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3048000" y="174534"/>
            <a:ext cx="1786034" cy="341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5"/>
              </a:lnSpc>
              <a:spcBef>
                <a:spcPct val="0"/>
              </a:spcBef>
            </a:pPr>
            <a:r>
              <a:rPr lang="en-US" sz="1535" b="1" spc="298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 Bold" panose="020B0800000000000000" charset="-122"/>
                <a:sym typeface="思源黑体 Bold" panose="020B0800000000000000" charset="-122"/>
              </a:rPr>
              <a:t>MATCHAFLOW</a:t>
            </a:r>
          </a:p>
        </p:txBody>
      </p:sp>
      <p:sp>
        <p:nvSpPr>
          <p:cNvPr id="5" name="Freeform 5"/>
          <p:cNvSpPr/>
          <p:nvPr/>
        </p:nvSpPr>
        <p:spPr>
          <a:xfrm>
            <a:off x="5086879" y="-239864"/>
            <a:ext cx="7097864" cy="7097864"/>
          </a:xfrm>
          <a:custGeom>
            <a:avLst/>
            <a:gdLst/>
            <a:ahLst/>
            <a:cxnLst/>
            <a:rect l="l" t="t" r="r" b="b"/>
            <a:pathLst>
              <a:path w="10646796" h="10646796">
                <a:moveTo>
                  <a:pt x="0" y="0"/>
                </a:moveTo>
                <a:lnTo>
                  <a:pt x="10646796" y="0"/>
                </a:lnTo>
                <a:lnTo>
                  <a:pt x="10646796" y="10646796"/>
                </a:lnTo>
                <a:lnTo>
                  <a:pt x="0" y="1064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 sz="1200"/>
          </a:p>
        </p:txBody>
      </p:sp>
      <p:sp>
        <p:nvSpPr>
          <p:cNvPr id="6" name="TextBox 6"/>
          <p:cNvSpPr txBox="1"/>
          <p:nvPr/>
        </p:nvSpPr>
        <p:spPr>
          <a:xfrm>
            <a:off x="5752203" y="939800"/>
            <a:ext cx="6410769" cy="278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0"/>
              </a:lnSpc>
            </a:pPr>
            <a:r>
              <a:rPr lang="en-US" sz="4165" spc="81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Arial Black" panose="020B0A04020102020204" charset="0"/>
                <a:ea typeface="字由点字倔强黑" panose="00020600040101010101" charset="-122"/>
                <a:cs typeface="Arial Black" panose="020B0A04020102020204" charset="0"/>
                <a:sym typeface="字由点字倔强黑" panose="00020600040101010101" charset="-122"/>
              </a:rPr>
              <a:t>MATCHAFLOW</a:t>
            </a:r>
          </a:p>
          <a:p>
            <a:pPr algn="l">
              <a:lnSpc>
                <a:spcPts val="7240"/>
              </a:lnSpc>
            </a:pPr>
            <a:r>
              <a:rPr lang="en-US" sz="4165" spc="811">
                <a:solidFill>
                  <a:srgbClr val="000000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多智能体</a:t>
            </a:r>
          </a:p>
          <a:p>
            <a:pPr algn="l">
              <a:lnSpc>
                <a:spcPts val="7240"/>
              </a:lnSpc>
            </a:pPr>
            <a:r>
              <a:rPr lang="en-US" sz="4165" spc="811">
                <a:solidFill>
                  <a:srgbClr val="000000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软件项目管理模拟系统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91864" y="4403044"/>
            <a:ext cx="3669688" cy="25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2025-2026秋季软件项目管理大作业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组员：周方亚诺 XXX XXX XXX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教师： XXX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报告日期：XXX</a:t>
            </a:r>
          </a:p>
          <a:p>
            <a:pPr algn="l">
              <a:lnSpc>
                <a:spcPts val="2460"/>
              </a:lnSpc>
              <a:spcBef>
                <a:spcPct val="0"/>
              </a:spcBef>
            </a:pPr>
            <a:endParaRPr lang="en-US" sz="1415" spc="275">
              <a:solidFill>
                <a:srgbClr val="00000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2CE5BA-BE07-C6DC-1267-0CCCBBAC9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69" y="0"/>
            <a:ext cx="4848606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A65E4B-30D1-E617-43B3-8BE632FAA3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402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59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48;p52"/>
          <p:cNvSpPr/>
          <p:nvPr/>
        </p:nvSpPr>
        <p:spPr>
          <a:xfrm>
            <a:off x="886691" y="5476028"/>
            <a:ext cx="9414741" cy="2263602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圆角矩形 4"/>
          <p:cNvSpPr/>
          <p:nvPr/>
        </p:nvSpPr>
        <p:spPr>
          <a:xfrm>
            <a:off x="886691" y="-85535"/>
            <a:ext cx="5384800" cy="192386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Google Shape;3248;p52"/>
          <p:cNvSpPr/>
          <p:nvPr/>
        </p:nvSpPr>
        <p:spPr>
          <a:xfrm>
            <a:off x="6452872" y="-85535"/>
            <a:ext cx="3784174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49350" y="2091055"/>
            <a:ext cx="2116455" cy="2411095"/>
          </a:xfrm>
          <a:prstGeom prst="roundRect">
            <a:avLst/>
          </a:prstGeom>
          <a:solidFill>
            <a:srgbClr val="F1DEB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95980" y="2091690"/>
            <a:ext cx="2089150" cy="241046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15940" y="2091055"/>
            <a:ext cx="2174875" cy="2411095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940675" y="2091055"/>
            <a:ext cx="2058670" cy="2411095"/>
          </a:xfrm>
          <a:prstGeom prst="roundRect">
            <a:avLst/>
          </a:prstGeom>
          <a:solidFill>
            <a:srgbClr val="E89B5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365" y="4133850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Multi-Layer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60775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GCN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83275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GAT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126730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TGN</a:t>
            </a:r>
          </a:p>
        </p:txBody>
      </p:sp>
      <p:sp>
        <p:nvSpPr>
          <p:cNvPr id="46" name="Google Shape;3248;p52"/>
          <p:cNvSpPr/>
          <p:nvPr/>
        </p:nvSpPr>
        <p:spPr>
          <a:xfrm>
            <a:off x="5796915" y="2305050"/>
            <a:ext cx="1837055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Google Shape;3283;p52"/>
          <p:cNvSpPr/>
          <p:nvPr/>
        </p:nvSpPr>
        <p:spPr>
          <a:xfrm>
            <a:off x="6036310" y="2421255"/>
            <a:ext cx="1391920" cy="406400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Multi-Head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Attention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Google Shape;3284;p52"/>
          <p:cNvSpPr/>
          <p:nvPr/>
        </p:nvSpPr>
        <p:spPr>
          <a:xfrm>
            <a:off x="6036310" y="2946400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 &amp; 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3286;p52"/>
          <p:cNvSpPr/>
          <p:nvPr/>
        </p:nvSpPr>
        <p:spPr>
          <a:xfrm>
            <a:off x="6031865" y="3307080"/>
            <a:ext cx="1391920" cy="406400"/>
          </a:xfrm>
          <a:prstGeom prst="roundRect">
            <a:avLst>
              <a:gd name="adj" fmla="val 16667"/>
            </a:avLst>
          </a:prstGeom>
          <a:solidFill>
            <a:srgbClr val="91DAF2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Feed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Forward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3287;p52"/>
          <p:cNvSpPr/>
          <p:nvPr/>
        </p:nvSpPr>
        <p:spPr>
          <a:xfrm>
            <a:off x="6031865" y="3867150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 &amp; 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4481195" y="4933315"/>
            <a:ext cx="2255520" cy="3028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Majority Voting </a:t>
            </a:r>
          </a:p>
        </p:txBody>
      </p:sp>
      <p:cxnSp>
        <p:nvCxnSpPr>
          <p:cNvPr id="81" name="肘形连接符 80"/>
          <p:cNvCxnSpPr>
            <a:stCxn id="4" idx="1"/>
            <a:endCxn id="80" idx="1"/>
          </p:cNvCxnSpPr>
          <p:nvPr/>
        </p:nvCxnSpPr>
        <p:spPr>
          <a:xfrm rot="10800000" flipH="1" flipV="1">
            <a:off x="1149350" y="3296920"/>
            <a:ext cx="3331845" cy="1788160"/>
          </a:xfrm>
          <a:prstGeom prst="bentConnector3">
            <a:avLst>
              <a:gd name="adj1" fmla="val -71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7" idx="3"/>
            <a:endCxn id="80" idx="3"/>
          </p:cNvCxnSpPr>
          <p:nvPr/>
        </p:nvCxnSpPr>
        <p:spPr>
          <a:xfrm flipH="1">
            <a:off x="6736715" y="3296920"/>
            <a:ext cx="3262630" cy="1788160"/>
          </a:xfrm>
          <a:prstGeom prst="bentConnector3">
            <a:avLst>
              <a:gd name="adj1" fmla="val -72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endCxn id="624" idx="0"/>
          </p:cNvCxnSpPr>
          <p:nvPr/>
        </p:nvCxnSpPr>
        <p:spPr>
          <a:xfrm flipH="1">
            <a:off x="5615940" y="5208270"/>
            <a:ext cx="635" cy="486833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9" idx="2"/>
          </p:cNvCxnSpPr>
          <p:nvPr/>
        </p:nvCxnSpPr>
        <p:spPr>
          <a:xfrm flipH="1">
            <a:off x="4481195" y="4542155"/>
            <a:ext cx="1270" cy="398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10" idx="2"/>
          </p:cNvCxnSpPr>
          <p:nvPr/>
        </p:nvCxnSpPr>
        <p:spPr>
          <a:xfrm flipH="1">
            <a:off x="6701790" y="4542155"/>
            <a:ext cx="3175" cy="358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Google Shape;3248;p52"/>
          <p:cNvSpPr/>
          <p:nvPr/>
        </p:nvSpPr>
        <p:spPr>
          <a:xfrm>
            <a:off x="125730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27825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GCN</a:t>
            </a:r>
          </a:p>
        </p:txBody>
      </p:sp>
      <p:sp>
        <p:nvSpPr>
          <p:cNvPr id="91" name="Google Shape;3248;p52"/>
          <p:cNvSpPr/>
          <p:nvPr/>
        </p:nvSpPr>
        <p:spPr>
          <a:xfrm>
            <a:off x="190246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92341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GAT</a:t>
            </a:r>
          </a:p>
        </p:txBody>
      </p:sp>
      <p:sp>
        <p:nvSpPr>
          <p:cNvPr id="93" name="Google Shape;3248;p52"/>
          <p:cNvSpPr/>
          <p:nvPr/>
        </p:nvSpPr>
        <p:spPr>
          <a:xfrm>
            <a:off x="254762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56857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SAGA</a:t>
            </a:r>
          </a:p>
        </p:txBody>
      </p:sp>
      <p:sp>
        <p:nvSpPr>
          <p:cNvPr id="95" name="Google Shape;3248;p52"/>
          <p:cNvSpPr/>
          <p:nvPr/>
        </p:nvSpPr>
        <p:spPr>
          <a:xfrm>
            <a:off x="3522345" y="2305050"/>
            <a:ext cx="1837055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Google Shape;3284;p52"/>
          <p:cNvSpPr/>
          <p:nvPr/>
        </p:nvSpPr>
        <p:spPr>
          <a:xfrm>
            <a:off x="3744595" y="2421255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Batch</a:t>
            </a: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Google Shape;3289;p52"/>
          <p:cNvSpPr/>
          <p:nvPr/>
        </p:nvSpPr>
        <p:spPr>
          <a:xfrm>
            <a:off x="3744595" y="2757805"/>
            <a:ext cx="1391920" cy="230505"/>
          </a:xfrm>
          <a:prstGeom prst="roundRect">
            <a:avLst>
              <a:gd name="adj" fmla="val 28518"/>
            </a:avLst>
          </a:prstGeom>
          <a:solidFill>
            <a:srgbClr val="DBDFEF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Linear</a:t>
            </a:r>
            <a:endParaRPr kumimoji="0" sz="146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Google Shape;3283;p52"/>
          <p:cNvSpPr/>
          <p:nvPr/>
        </p:nvSpPr>
        <p:spPr>
          <a:xfrm>
            <a:off x="3744595" y="3084830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99" name="Google Shape;3283;p52"/>
          <p:cNvSpPr/>
          <p:nvPr/>
        </p:nvSpPr>
        <p:spPr>
          <a:xfrm>
            <a:off x="3744595" y="3429635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101" name="Google Shape;3283;p52"/>
          <p:cNvSpPr/>
          <p:nvPr/>
        </p:nvSpPr>
        <p:spPr>
          <a:xfrm>
            <a:off x="3744595" y="3759200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102" name="Google Shape;3248;p52"/>
          <p:cNvSpPr/>
          <p:nvPr/>
        </p:nvSpPr>
        <p:spPr>
          <a:xfrm>
            <a:off x="8138160" y="2305050"/>
            <a:ext cx="792480" cy="129286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237220" y="2757805"/>
            <a:ext cx="557530" cy="809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Node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Time</a:t>
            </a:r>
          </a:p>
        </p:txBody>
      </p:sp>
      <p:sp>
        <p:nvSpPr>
          <p:cNvPr id="104" name="Google Shape;3248;p52"/>
          <p:cNvSpPr/>
          <p:nvPr/>
        </p:nvSpPr>
        <p:spPr>
          <a:xfrm>
            <a:off x="9025890" y="2305050"/>
            <a:ext cx="773430" cy="129286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182735" y="2757805"/>
            <a:ext cx="557530" cy="809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Time</a:t>
            </a:r>
          </a:p>
        </p:txBody>
      </p:sp>
      <p:sp>
        <p:nvSpPr>
          <p:cNvPr id="106" name="Google Shape;3283;p52"/>
          <p:cNvSpPr/>
          <p:nvPr/>
        </p:nvSpPr>
        <p:spPr>
          <a:xfrm>
            <a:off x="8146415" y="3683000"/>
            <a:ext cx="1640205" cy="406400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Multi-Head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Attention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7" name="矩形 546"/>
          <p:cNvSpPr/>
          <p:nvPr/>
        </p:nvSpPr>
        <p:spPr>
          <a:xfrm>
            <a:off x="4845685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9" name="矩形 548"/>
          <p:cNvSpPr/>
          <p:nvPr/>
        </p:nvSpPr>
        <p:spPr>
          <a:xfrm>
            <a:off x="2766272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0" name="矩形 549"/>
          <p:cNvSpPr/>
          <p:nvPr/>
        </p:nvSpPr>
        <p:spPr>
          <a:xfrm>
            <a:off x="1127126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1102360" y="1350645"/>
            <a:ext cx="4933950" cy="287655"/>
          </a:xfrm>
          <a:prstGeom prst="roundRect">
            <a:avLst/>
          </a:prstGeom>
          <a:solidFill>
            <a:srgbClr val="F5F5F5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Train Set Time Line</a:t>
            </a:r>
          </a:p>
        </p:txBody>
      </p:sp>
      <p:cxnSp>
        <p:nvCxnSpPr>
          <p:cNvPr id="552" name="直接箭头连接符 551"/>
          <p:cNvCxnSpPr/>
          <p:nvPr/>
        </p:nvCxnSpPr>
        <p:spPr>
          <a:xfrm flipH="1" flipV="1">
            <a:off x="1724661" y="1063202"/>
            <a:ext cx="9525" cy="22796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3" name="直接箭头连接符 552"/>
          <p:cNvCxnSpPr/>
          <p:nvPr/>
        </p:nvCxnSpPr>
        <p:spPr>
          <a:xfrm flipV="1">
            <a:off x="3363807" y="1065742"/>
            <a:ext cx="2540" cy="247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5" name="直接箭头连接符 554"/>
          <p:cNvCxnSpPr/>
          <p:nvPr/>
        </p:nvCxnSpPr>
        <p:spPr>
          <a:xfrm flipH="1" flipV="1">
            <a:off x="5442374" y="1065742"/>
            <a:ext cx="6350" cy="255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6" name="文本框 555"/>
          <p:cNvSpPr txBox="1"/>
          <p:nvPr/>
        </p:nvSpPr>
        <p:spPr>
          <a:xfrm>
            <a:off x="4149726" y="359834"/>
            <a:ext cx="541867" cy="460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...</a:t>
            </a:r>
          </a:p>
        </p:txBody>
      </p:sp>
      <p:sp>
        <p:nvSpPr>
          <p:cNvPr id="560" name="椭圆 559"/>
          <p:cNvSpPr/>
          <p:nvPr/>
        </p:nvSpPr>
        <p:spPr>
          <a:xfrm>
            <a:off x="2038986" y="869527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1" name="椭圆 560"/>
          <p:cNvSpPr/>
          <p:nvPr/>
        </p:nvSpPr>
        <p:spPr>
          <a:xfrm>
            <a:off x="1222799" y="868681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2" name="椭圆 561"/>
          <p:cNvSpPr/>
          <p:nvPr/>
        </p:nvSpPr>
        <p:spPr>
          <a:xfrm>
            <a:off x="1674072" y="65955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3" name="椭圆 562"/>
          <p:cNvSpPr/>
          <p:nvPr/>
        </p:nvSpPr>
        <p:spPr>
          <a:xfrm>
            <a:off x="1427692" y="869527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4" name="椭圆 563"/>
          <p:cNvSpPr/>
          <p:nvPr/>
        </p:nvSpPr>
        <p:spPr>
          <a:xfrm>
            <a:off x="1319319" y="35983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7" name="直接连接符 566"/>
          <p:cNvCxnSpPr>
            <a:endCxn id="560" idx="1"/>
          </p:cNvCxnSpPr>
          <p:nvPr/>
        </p:nvCxnSpPr>
        <p:spPr>
          <a:xfrm>
            <a:off x="1880659" y="537634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8" name="直接连接符 567"/>
          <p:cNvCxnSpPr>
            <a:stCxn id="562" idx="1"/>
            <a:endCxn id="564" idx="5"/>
          </p:cNvCxnSpPr>
          <p:nvPr/>
        </p:nvCxnSpPr>
        <p:spPr>
          <a:xfrm flipH="1" flipV="1">
            <a:off x="1400599" y="441114"/>
            <a:ext cx="287020" cy="2319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0" name="直接连接符 569"/>
          <p:cNvCxnSpPr>
            <a:stCxn id="563" idx="2"/>
            <a:endCxn id="561" idx="6"/>
          </p:cNvCxnSpPr>
          <p:nvPr/>
        </p:nvCxnSpPr>
        <p:spPr>
          <a:xfrm flipH="1">
            <a:off x="1318472" y="916941"/>
            <a:ext cx="10922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1" name="椭圆 570"/>
          <p:cNvSpPr/>
          <p:nvPr/>
        </p:nvSpPr>
        <p:spPr>
          <a:xfrm>
            <a:off x="1799379" y="45635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2" name="矩形 571"/>
          <p:cNvSpPr/>
          <p:nvPr/>
        </p:nvSpPr>
        <p:spPr>
          <a:xfrm>
            <a:off x="2766061" y="250402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73" name="直接连接符 572"/>
          <p:cNvCxnSpPr>
            <a:endCxn id="577" idx="7"/>
          </p:cNvCxnSpPr>
          <p:nvPr/>
        </p:nvCxnSpPr>
        <p:spPr>
          <a:xfrm flipH="1">
            <a:off x="3394922" y="541444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4" name="椭圆 573"/>
          <p:cNvSpPr/>
          <p:nvPr/>
        </p:nvSpPr>
        <p:spPr>
          <a:xfrm>
            <a:off x="3783754" y="363009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5" name="椭圆 574"/>
          <p:cNvSpPr/>
          <p:nvPr/>
        </p:nvSpPr>
        <p:spPr>
          <a:xfrm>
            <a:off x="3677921" y="872702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6" name="椭圆 575"/>
          <p:cNvSpPr/>
          <p:nvPr/>
        </p:nvSpPr>
        <p:spPr>
          <a:xfrm>
            <a:off x="2861734" y="871856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7" name="椭圆 576"/>
          <p:cNvSpPr/>
          <p:nvPr/>
        </p:nvSpPr>
        <p:spPr>
          <a:xfrm>
            <a:off x="3313007" y="662729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8" name="椭圆 577"/>
          <p:cNvSpPr/>
          <p:nvPr/>
        </p:nvSpPr>
        <p:spPr>
          <a:xfrm>
            <a:off x="3066627" y="872702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9" name="椭圆 578"/>
          <p:cNvSpPr/>
          <p:nvPr/>
        </p:nvSpPr>
        <p:spPr>
          <a:xfrm>
            <a:off x="2958254" y="363009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0" name="直接连接符 579"/>
          <p:cNvCxnSpPr>
            <a:stCxn id="579" idx="6"/>
          </p:cNvCxnSpPr>
          <p:nvPr/>
        </p:nvCxnSpPr>
        <p:spPr>
          <a:xfrm>
            <a:off x="3054562" y="411692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2" name="直接连接符 581"/>
          <p:cNvCxnSpPr>
            <a:endCxn id="575" idx="1"/>
          </p:cNvCxnSpPr>
          <p:nvPr/>
        </p:nvCxnSpPr>
        <p:spPr>
          <a:xfrm>
            <a:off x="3518959" y="540174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3" name="直接连接符 582"/>
          <p:cNvCxnSpPr>
            <a:stCxn id="577" idx="1"/>
            <a:endCxn id="579" idx="5"/>
          </p:cNvCxnSpPr>
          <p:nvPr/>
        </p:nvCxnSpPr>
        <p:spPr>
          <a:xfrm flipH="1" flipV="1">
            <a:off x="3040169" y="445136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5" name="直接连接符 584"/>
          <p:cNvCxnSpPr>
            <a:stCxn id="578" idx="2"/>
            <a:endCxn id="576" idx="6"/>
          </p:cNvCxnSpPr>
          <p:nvPr/>
        </p:nvCxnSpPr>
        <p:spPr>
          <a:xfrm flipH="1" flipV="1">
            <a:off x="2958042" y="920116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6" name="椭圆 585"/>
          <p:cNvSpPr/>
          <p:nvPr/>
        </p:nvSpPr>
        <p:spPr>
          <a:xfrm>
            <a:off x="3438314" y="459529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7" name="矩形 586"/>
          <p:cNvSpPr/>
          <p:nvPr/>
        </p:nvSpPr>
        <p:spPr>
          <a:xfrm>
            <a:off x="4845686" y="25103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8" name="直接连接符 587"/>
          <p:cNvCxnSpPr>
            <a:endCxn id="592" idx="7"/>
          </p:cNvCxnSpPr>
          <p:nvPr/>
        </p:nvCxnSpPr>
        <p:spPr>
          <a:xfrm flipH="1">
            <a:off x="5474547" y="542079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9" name="椭圆 588"/>
          <p:cNvSpPr/>
          <p:nvPr/>
        </p:nvSpPr>
        <p:spPr>
          <a:xfrm>
            <a:off x="5863379" y="36364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0" name="椭圆 589"/>
          <p:cNvSpPr/>
          <p:nvPr/>
        </p:nvSpPr>
        <p:spPr>
          <a:xfrm>
            <a:off x="5757546" y="873337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1" name="椭圆 590"/>
          <p:cNvSpPr/>
          <p:nvPr/>
        </p:nvSpPr>
        <p:spPr>
          <a:xfrm>
            <a:off x="4941359" y="872491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2" name="椭圆 591"/>
          <p:cNvSpPr/>
          <p:nvPr/>
        </p:nvSpPr>
        <p:spPr>
          <a:xfrm>
            <a:off x="5392632" y="66336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3" name="椭圆 592"/>
          <p:cNvSpPr/>
          <p:nvPr/>
        </p:nvSpPr>
        <p:spPr>
          <a:xfrm>
            <a:off x="5146252" y="873337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4" name="椭圆 593"/>
          <p:cNvSpPr/>
          <p:nvPr/>
        </p:nvSpPr>
        <p:spPr>
          <a:xfrm>
            <a:off x="5037879" y="36364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95" name="直接连接符 594"/>
          <p:cNvCxnSpPr>
            <a:stCxn id="594" idx="6"/>
          </p:cNvCxnSpPr>
          <p:nvPr/>
        </p:nvCxnSpPr>
        <p:spPr>
          <a:xfrm>
            <a:off x="5134187" y="412327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6" name="直接连接符 595"/>
          <p:cNvCxnSpPr>
            <a:endCxn id="589" idx="3"/>
          </p:cNvCxnSpPr>
          <p:nvPr/>
        </p:nvCxnSpPr>
        <p:spPr>
          <a:xfrm flipV="1">
            <a:off x="5614247" y="445771"/>
            <a:ext cx="263313" cy="6180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7" name="直接连接符 596"/>
          <p:cNvCxnSpPr>
            <a:endCxn id="590" idx="1"/>
          </p:cNvCxnSpPr>
          <p:nvPr/>
        </p:nvCxnSpPr>
        <p:spPr>
          <a:xfrm>
            <a:off x="5598584" y="540809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8" name="直接连接符 597"/>
          <p:cNvCxnSpPr>
            <a:stCxn id="592" idx="1"/>
            <a:endCxn id="594" idx="5"/>
          </p:cNvCxnSpPr>
          <p:nvPr/>
        </p:nvCxnSpPr>
        <p:spPr>
          <a:xfrm flipH="1" flipV="1">
            <a:off x="5119794" y="445771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9" name="直接连接符 598"/>
          <p:cNvCxnSpPr>
            <a:stCxn id="593" idx="0"/>
            <a:endCxn id="594" idx="5"/>
          </p:cNvCxnSpPr>
          <p:nvPr/>
        </p:nvCxnSpPr>
        <p:spPr>
          <a:xfrm flipH="1" flipV="1">
            <a:off x="5120006" y="445982"/>
            <a:ext cx="74295" cy="42735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0" name="直接连接符 599"/>
          <p:cNvCxnSpPr>
            <a:stCxn id="593" idx="2"/>
            <a:endCxn id="591" idx="6"/>
          </p:cNvCxnSpPr>
          <p:nvPr/>
        </p:nvCxnSpPr>
        <p:spPr>
          <a:xfrm flipH="1" flipV="1">
            <a:off x="5037667" y="920751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1" name="椭圆 600"/>
          <p:cNvSpPr/>
          <p:nvPr/>
        </p:nvSpPr>
        <p:spPr>
          <a:xfrm>
            <a:off x="5517939" y="46016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2" name="曲线连接符 601"/>
          <p:cNvCxnSpPr>
            <a:stCxn id="551" idx="2"/>
            <a:endCxn id="4" idx="0"/>
          </p:cNvCxnSpPr>
          <p:nvPr/>
        </p:nvCxnSpPr>
        <p:spPr>
          <a:xfrm rot="5400000">
            <a:off x="2662555" y="1183640"/>
            <a:ext cx="452755" cy="136144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3" name="曲线连接符 602"/>
          <p:cNvCxnSpPr>
            <a:stCxn id="551" idx="2"/>
            <a:endCxn id="6" idx="0"/>
          </p:cNvCxnSpPr>
          <p:nvPr/>
        </p:nvCxnSpPr>
        <p:spPr>
          <a:xfrm rot="5400000" flipV="1">
            <a:off x="4910138" y="297498"/>
            <a:ext cx="452755" cy="313436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5" name="矩形 604"/>
          <p:cNvSpPr/>
          <p:nvPr/>
        </p:nvSpPr>
        <p:spPr>
          <a:xfrm>
            <a:off x="6724862" y="47838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6" name="矩形 605"/>
          <p:cNvSpPr/>
          <p:nvPr/>
        </p:nvSpPr>
        <p:spPr>
          <a:xfrm>
            <a:off x="6724863" y="51648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7" name="直接连接符 606"/>
          <p:cNvCxnSpPr>
            <a:endCxn id="611" idx="7"/>
          </p:cNvCxnSpPr>
          <p:nvPr/>
        </p:nvCxnSpPr>
        <p:spPr>
          <a:xfrm flipH="1">
            <a:off x="7353724" y="342690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8" name="椭圆 607"/>
          <p:cNvSpPr/>
          <p:nvPr/>
        </p:nvSpPr>
        <p:spPr>
          <a:xfrm>
            <a:off x="7742556" y="164255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9" name="椭圆 608"/>
          <p:cNvSpPr/>
          <p:nvPr/>
        </p:nvSpPr>
        <p:spPr>
          <a:xfrm>
            <a:off x="7636723" y="673948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0" name="椭圆 609"/>
          <p:cNvSpPr/>
          <p:nvPr/>
        </p:nvSpPr>
        <p:spPr>
          <a:xfrm>
            <a:off x="6820536" y="673102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1" name="椭圆 610"/>
          <p:cNvSpPr/>
          <p:nvPr/>
        </p:nvSpPr>
        <p:spPr>
          <a:xfrm>
            <a:off x="7271809" y="463975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2" name="椭圆 611"/>
          <p:cNvSpPr/>
          <p:nvPr/>
        </p:nvSpPr>
        <p:spPr>
          <a:xfrm>
            <a:off x="7025429" y="673948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3" name="椭圆 612"/>
          <p:cNvSpPr/>
          <p:nvPr/>
        </p:nvSpPr>
        <p:spPr>
          <a:xfrm>
            <a:off x="6917056" y="164255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14" name="直接连接符 613"/>
          <p:cNvCxnSpPr>
            <a:stCxn id="613" idx="6"/>
          </p:cNvCxnSpPr>
          <p:nvPr/>
        </p:nvCxnSpPr>
        <p:spPr>
          <a:xfrm>
            <a:off x="7013364" y="212938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5" name="直接连接符 614"/>
          <p:cNvCxnSpPr>
            <a:endCxn id="608" idx="3"/>
          </p:cNvCxnSpPr>
          <p:nvPr/>
        </p:nvCxnSpPr>
        <p:spPr>
          <a:xfrm flipV="1">
            <a:off x="7493424" y="246382"/>
            <a:ext cx="263313" cy="6180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6" name="直接连接符 615"/>
          <p:cNvCxnSpPr>
            <a:endCxn id="609" idx="1"/>
          </p:cNvCxnSpPr>
          <p:nvPr/>
        </p:nvCxnSpPr>
        <p:spPr>
          <a:xfrm>
            <a:off x="7477761" y="341420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7" name="直接连接符 616"/>
          <p:cNvCxnSpPr>
            <a:stCxn id="611" idx="1"/>
            <a:endCxn id="613" idx="5"/>
          </p:cNvCxnSpPr>
          <p:nvPr/>
        </p:nvCxnSpPr>
        <p:spPr>
          <a:xfrm flipH="1" flipV="1">
            <a:off x="6998971" y="246382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8" name="直接连接符 617"/>
          <p:cNvCxnSpPr>
            <a:stCxn id="612" idx="0"/>
            <a:endCxn id="613" idx="5"/>
          </p:cNvCxnSpPr>
          <p:nvPr/>
        </p:nvCxnSpPr>
        <p:spPr>
          <a:xfrm flipH="1" flipV="1">
            <a:off x="6999183" y="246593"/>
            <a:ext cx="74295" cy="42735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9" name="直接连接符 618"/>
          <p:cNvCxnSpPr>
            <a:stCxn id="612" idx="2"/>
            <a:endCxn id="610" idx="6"/>
          </p:cNvCxnSpPr>
          <p:nvPr/>
        </p:nvCxnSpPr>
        <p:spPr>
          <a:xfrm flipH="1" flipV="1">
            <a:off x="6916844" y="721362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0" name="椭圆 619"/>
          <p:cNvSpPr/>
          <p:nvPr/>
        </p:nvSpPr>
        <p:spPr>
          <a:xfrm>
            <a:off x="7397116" y="260775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21" name="图片 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337" y="47626"/>
            <a:ext cx="1971040" cy="821055"/>
          </a:xfrm>
          <a:prstGeom prst="rect">
            <a:avLst/>
          </a:prstGeom>
        </p:spPr>
      </p:pic>
      <p:pic>
        <p:nvPicPr>
          <p:cNvPr id="622" name="图片 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842" y="965836"/>
            <a:ext cx="1547495" cy="774065"/>
          </a:xfrm>
          <a:prstGeom prst="rect">
            <a:avLst/>
          </a:prstGeom>
        </p:spPr>
      </p:pic>
      <p:pic>
        <p:nvPicPr>
          <p:cNvPr id="623" name="图片 6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127" y="965836"/>
            <a:ext cx="1873250" cy="781050"/>
          </a:xfrm>
          <a:prstGeom prst="rect">
            <a:avLst/>
          </a:prstGeom>
        </p:spPr>
      </p:pic>
      <p:sp>
        <p:nvSpPr>
          <p:cNvPr id="624" name="圆角矩形 623"/>
          <p:cNvSpPr/>
          <p:nvPr/>
        </p:nvSpPr>
        <p:spPr>
          <a:xfrm>
            <a:off x="4197773" y="5695103"/>
            <a:ext cx="2836333" cy="303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Final Model</a:t>
            </a:r>
          </a:p>
        </p:txBody>
      </p:sp>
      <p:sp>
        <p:nvSpPr>
          <p:cNvPr id="14" name="圆角矩形 4"/>
          <p:cNvSpPr/>
          <p:nvPr/>
        </p:nvSpPr>
        <p:spPr>
          <a:xfrm>
            <a:off x="1098146" y="6210088"/>
            <a:ext cx="5125258" cy="135109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08245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28832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89686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圆角矩形 550"/>
          <p:cNvSpPr/>
          <p:nvPr/>
        </p:nvSpPr>
        <p:spPr>
          <a:xfrm>
            <a:off x="1297775" y="7277474"/>
            <a:ext cx="4696138" cy="202015"/>
          </a:xfrm>
          <a:prstGeom prst="roundRect">
            <a:avLst/>
          </a:prstGeom>
          <a:solidFill>
            <a:srgbClr val="F5F5F5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Test Set Time Line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1739848" y="6971780"/>
            <a:ext cx="14094" cy="4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386191" y="6978342"/>
            <a:ext cx="48" cy="521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5459125" y="6979900"/>
            <a:ext cx="9395" cy="537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188881" y="6325641"/>
            <a:ext cx="515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...</a:t>
            </a:r>
          </a:p>
        </p:txBody>
      </p:sp>
      <p:sp>
        <p:nvSpPr>
          <p:cNvPr id="23" name="椭圆 22"/>
          <p:cNvSpPr/>
          <p:nvPr/>
        </p:nvSpPr>
        <p:spPr>
          <a:xfrm>
            <a:off x="2062266" y="6753085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246079" y="6752239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697352" y="654311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450972" y="6753085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342599" y="624339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8" name="直接连接符 27"/>
          <p:cNvCxnSpPr>
            <a:endCxn id="23" idx="1"/>
          </p:cNvCxnSpPr>
          <p:nvPr/>
        </p:nvCxnSpPr>
        <p:spPr>
          <a:xfrm>
            <a:off x="1900535" y="6399627"/>
            <a:ext cx="175067" cy="363298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25" idx="1"/>
            <a:endCxn id="27" idx="5"/>
          </p:cNvCxnSpPr>
          <p:nvPr/>
        </p:nvCxnSpPr>
        <p:spPr>
          <a:xfrm flipH="1" flipV="1">
            <a:off x="1420324" y="6300742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6" idx="2"/>
            <a:endCxn id="24" idx="6"/>
          </p:cNvCxnSpPr>
          <p:nvPr/>
        </p:nvCxnSpPr>
        <p:spPr>
          <a:xfrm flipH="1" flipV="1">
            <a:off x="1337140" y="6785834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1822659" y="633991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828621" y="6296360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3" name="直接连接符 32"/>
          <p:cNvCxnSpPr>
            <a:endCxn id="37" idx="7"/>
          </p:cNvCxnSpPr>
          <p:nvPr/>
        </p:nvCxnSpPr>
        <p:spPr>
          <a:xfrm flipH="1">
            <a:off x="3414012" y="6403437"/>
            <a:ext cx="58359" cy="1526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3807034" y="6246567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701201" y="6756260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2885014" y="6755414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336287" y="6546287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089907" y="6756260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981534" y="6246567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0" name="直接连接符 39"/>
          <p:cNvCxnSpPr>
            <a:stCxn id="39" idx="6"/>
          </p:cNvCxnSpPr>
          <p:nvPr/>
        </p:nvCxnSpPr>
        <p:spPr>
          <a:xfrm>
            <a:off x="3072595" y="6280162"/>
            <a:ext cx="386230" cy="900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35" idx="1"/>
          </p:cNvCxnSpPr>
          <p:nvPr/>
        </p:nvCxnSpPr>
        <p:spPr>
          <a:xfrm>
            <a:off x="3538835" y="6402167"/>
            <a:ext cx="175702" cy="36393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7" idx="1"/>
            <a:endCxn id="39" idx="5"/>
          </p:cNvCxnSpPr>
          <p:nvPr/>
        </p:nvCxnSpPr>
        <p:spPr>
          <a:xfrm flipH="1" flipV="1">
            <a:off x="3059259" y="6303917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8" idx="2"/>
            <a:endCxn id="36" idx="6"/>
          </p:cNvCxnSpPr>
          <p:nvPr/>
        </p:nvCxnSpPr>
        <p:spPr>
          <a:xfrm flipH="1" flipV="1">
            <a:off x="2976075" y="6789009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3461594" y="6343087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908246" y="629699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" name="直接连接符 46"/>
          <p:cNvCxnSpPr>
            <a:endCxn id="55" idx="7"/>
          </p:cNvCxnSpPr>
          <p:nvPr/>
        </p:nvCxnSpPr>
        <p:spPr>
          <a:xfrm flipH="1">
            <a:off x="5493637" y="6404072"/>
            <a:ext cx="58359" cy="1526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5886659" y="624720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780826" y="6756895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964639" y="6756049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5415912" y="654692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5169532" y="6756895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5061159" y="624720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" name="直接连接符 57"/>
          <p:cNvCxnSpPr>
            <a:stCxn id="57" idx="6"/>
          </p:cNvCxnSpPr>
          <p:nvPr/>
        </p:nvCxnSpPr>
        <p:spPr>
          <a:xfrm>
            <a:off x="5152220" y="6280797"/>
            <a:ext cx="386230" cy="900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48" idx="3"/>
          </p:cNvCxnSpPr>
          <p:nvPr/>
        </p:nvCxnSpPr>
        <p:spPr>
          <a:xfrm flipV="1">
            <a:off x="5634123" y="6304552"/>
            <a:ext cx="265872" cy="65019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53" idx="1"/>
          </p:cNvCxnSpPr>
          <p:nvPr/>
        </p:nvCxnSpPr>
        <p:spPr>
          <a:xfrm>
            <a:off x="5618460" y="6402802"/>
            <a:ext cx="175702" cy="36393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5" idx="1"/>
            <a:endCxn id="57" idx="5"/>
          </p:cNvCxnSpPr>
          <p:nvPr/>
        </p:nvCxnSpPr>
        <p:spPr>
          <a:xfrm flipH="1" flipV="1">
            <a:off x="5138884" y="6304552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6" idx="0"/>
            <a:endCxn id="57" idx="5"/>
          </p:cNvCxnSpPr>
          <p:nvPr/>
        </p:nvCxnSpPr>
        <p:spPr>
          <a:xfrm flipH="1" flipV="1">
            <a:off x="5138884" y="6304552"/>
            <a:ext cx="76179" cy="4523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6" idx="2"/>
            <a:endCxn id="54" idx="6"/>
          </p:cNvCxnSpPr>
          <p:nvPr/>
        </p:nvCxnSpPr>
        <p:spPr>
          <a:xfrm flipH="1" flipV="1">
            <a:off x="5055700" y="6789644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>
          <a:xfrm>
            <a:off x="5541219" y="634372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圆角矩形 79"/>
          <p:cNvSpPr/>
          <p:nvPr/>
        </p:nvSpPr>
        <p:spPr>
          <a:xfrm>
            <a:off x="6821978" y="6197157"/>
            <a:ext cx="1304752" cy="13577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Model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Weight</a:t>
            </a:r>
          </a:p>
        </p:txBody>
      </p:sp>
      <p:sp>
        <p:nvSpPr>
          <p:cNvPr id="75" name="箭头: 右 74"/>
          <p:cNvSpPr/>
          <p:nvPr/>
        </p:nvSpPr>
        <p:spPr>
          <a:xfrm>
            <a:off x="6271491" y="6780318"/>
            <a:ext cx="465224" cy="27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297920" y="572040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0.1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9201236" y="572040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0.9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8286894" y="621805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0.8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9190210" y="621805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0.2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8286894" y="6759495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0.1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9190210" y="6759495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0.9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286894" y="7235613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0.3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9190210" y="7235613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248;p52"/>
          <p:cNvSpPr/>
          <p:nvPr/>
        </p:nvSpPr>
        <p:spPr>
          <a:xfrm>
            <a:off x="75565" y="3614420"/>
            <a:ext cx="1428115" cy="223202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3248;p52"/>
          <p:cNvSpPr/>
          <p:nvPr/>
        </p:nvSpPr>
        <p:spPr>
          <a:xfrm>
            <a:off x="1698161" y="917416"/>
            <a:ext cx="10348353" cy="4929631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圆角矩形 4"/>
          <p:cNvSpPr/>
          <p:nvPr/>
        </p:nvSpPr>
        <p:spPr>
          <a:xfrm>
            <a:off x="3838328" y="1477379"/>
            <a:ext cx="7957617" cy="4129035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882" y="1291414"/>
            <a:ext cx="663643" cy="66364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998441"/>
            <a:ext cx="1045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0047" y="1712118"/>
            <a:ext cx="663643" cy="66364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59165" y="2419145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Planner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74811" y="981467"/>
            <a:ext cx="241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Plan-Execute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0520" y="1722550"/>
            <a:ext cx="663643" cy="66364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88855" y="241326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Execute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2017" y="1722171"/>
            <a:ext cx="663643" cy="66364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8113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4537" y="1722171"/>
            <a:ext cx="663643" cy="6636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66365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Document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714" y="1724460"/>
            <a:ext cx="663643" cy="66364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488832" y="243148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9856" y="3535219"/>
            <a:ext cx="663643" cy="66364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788974" y="4242246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725" y="1716576"/>
            <a:ext cx="663643" cy="66364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358097" y="2423603"/>
            <a:ext cx="1188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Multi-Modal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圆角矩形 3"/>
          <p:cNvSpPr/>
          <p:nvPr/>
        </p:nvSpPr>
        <p:spPr>
          <a:xfrm>
            <a:off x="4922011" y="3132842"/>
            <a:ext cx="6616665" cy="2240728"/>
          </a:xfrm>
          <a:prstGeom prst="roundRect">
            <a:avLst/>
          </a:prstGeom>
          <a:solidFill>
            <a:srgbClr val="F1DEB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09061" y="3180470"/>
            <a:ext cx="282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圆角矩形 5"/>
          <p:cNvSpPr/>
          <p:nvPr/>
        </p:nvSpPr>
        <p:spPr>
          <a:xfrm>
            <a:off x="5373589" y="3681024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圆角矩形 79"/>
          <p:cNvSpPr/>
          <p:nvPr/>
        </p:nvSpPr>
        <p:spPr>
          <a:xfrm>
            <a:off x="7541923" y="3676383"/>
            <a:ext cx="1361285" cy="8346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Proxy Agent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圆角矩形 5"/>
          <p:cNvSpPr/>
          <p:nvPr/>
        </p:nvSpPr>
        <p:spPr>
          <a:xfrm>
            <a:off x="9690642" y="3678079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MCP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1045660" y="206350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530612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箭头: 右 29"/>
          <p:cNvSpPr/>
          <p:nvPr/>
        </p:nvSpPr>
        <p:spPr>
          <a:xfrm>
            <a:off x="3471465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箭头: 右 30"/>
          <p:cNvSpPr/>
          <p:nvPr/>
        </p:nvSpPr>
        <p:spPr>
          <a:xfrm>
            <a:off x="4602892" y="380483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圆角矩形 623"/>
          <p:cNvSpPr/>
          <p:nvPr/>
        </p:nvSpPr>
        <p:spPr>
          <a:xfrm>
            <a:off x="4692853" y="1932592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Write and Execute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Code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圆角矩形 623"/>
          <p:cNvSpPr/>
          <p:nvPr/>
        </p:nvSpPr>
        <p:spPr>
          <a:xfrm>
            <a:off x="6590917" y="1932565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Read and Analyze Documents</a:t>
            </a:r>
          </a:p>
        </p:txBody>
      </p:sp>
      <p:sp>
        <p:nvSpPr>
          <p:cNvPr id="35" name="圆角矩形 623"/>
          <p:cNvSpPr/>
          <p:nvPr/>
        </p:nvSpPr>
        <p:spPr>
          <a:xfrm>
            <a:off x="83941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Use API to Monitor  The Stock Market</a:t>
            </a:r>
          </a:p>
        </p:txBody>
      </p:sp>
      <p:sp>
        <p:nvSpPr>
          <p:cNvPr id="36" name="圆角矩形 623"/>
          <p:cNvSpPr/>
          <p:nvPr/>
        </p:nvSpPr>
        <p:spPr>
          <a:xfrm>
            <a:off x="105202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Perform Multi-Modal Tasks Like Analyzing A Video</a:t>
            </a:r>
          </a:p>
        </p:txBody>
      </p:sp>
      <p:sp>
        <p:nvSpPr>
          <p:cNvPr id="37" name="箭头: 上弧形 36"/>
          <p:cNvSpPr/>
          <p:nvPr/>
        </p:nvSpPr>
        <p:spPr>
          <a:xfrm>
            <a:off x="6851712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箭头: 上弧形 37"/>
          <p:cNvSpPr/>
          <p:nvPr/>
        </p:nvSpPr>
        <p:spPr>
          <a:xfrm rot="10800000">
            <a:off x="6831923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箭头: 上弧形 42"/>
          <p:cNvSpPr/>
          <p:nvPr/>
        </p:nvSpPr>
        <p:spPr>
          <a:xfrm>
            <a:off x="9010628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箭头: 上弧形 43"/>
          <p:cNvSpPr/>
          <p:nvPr/>
        </p:nvSpPr>
        <p:spPr>
          <a:xfrm rot="10800000">
            <a:off x="8990839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圆角矩形 6"/>
          <p:cNvSpPr/>
          <p:nvPr/>
        </p:nvSpPr>
        <p:spPr>
          <a:xfrm>
            <a:off x="7131882" y="4713897"/>
            <a:ext cx="2174161" cy="559825"/>
          </a:xfrm>
          <a:prstGeom prst="roundRect">
            <a:avLst/>
          </a:prstGeom>
          <a:solidFill>
            <a:srgbClr val="E89B5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Success-&gt;Compress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Fail-&gt;Retry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计划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25" y="3089910"/>
            <a:ext cx="567055" cy="567055"/>
          </a:xfrm>
          <a:prstGeom prst="rect">
            <a:avLst/>
          </a:prstGeom>
        </p:spPr>
      </p:pic>
      <p:pic>
        <p:nvPicPr>
          <p:cNvPr id="3" name="图片 2" descr="扳手螺丝刀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5595" y="3120390"/>
            <a:ext cx="536575" cy="536575"/>
          </a:xfrm>
          <a:prstGeom prst="rect">
            <a:avLst/>
          </a:prstGeom>
        </p:spPr>
      </p:pic>
      <p:sp>
        <p:nvSpPr>
          <p:cNvPr id="32" name="圆角矩形 623"/>
          <p:cNvSpPr/>
          <p:nvPr/>
        </p:nvSpPr>
        <p:spPr>
          <a:xfrm>
            <a:off x="1965325" y="395097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Draw A Plan</a:t>
            </a:r>
          </a:p>
        </p:txBody>
      </p:sp>
      <p:sp>
        <p:nvSpPr>
          <p:cNvPr id="39" name="箭头: 右 30"/>
          <p:cNvSpPr/>
          <p:nvPr/>
        </p:nvSpPr>
        <p:spPr>
          <a:xfrm rot="5400000">
            <a:off x="2534697" y="456556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圆角矩形 623"/>
          <p:cNvSpPr/>
          <p:nvPr/>
        </p:nvSpPr>
        <p:spPr>
          <a:xfrm>
            <a:off x="1965325" y="488950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 The Plan</a:t>
            </a:r>
          </a:p>
        </p:txBody>
      </p:sp>
      <p:pic>
        <p:nvPicPr>
          <p:cNvPr id="4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217" y="3771089"/>
            <a:ext cx="663643" cy="663643"/>
          </a:xfrm>
          <a:prstGeom prst="rect">
            <a:avLst/>
          </a:prstGeom>
        </p:spPr>
      </p:pic>
      <p:sp>
        <p:nvSpPr>
          <p:cNvPr id="46" name="圆角矩形 5"/>
          <p:cNvSpPr/>
          <p:nvPr/>
        </p:nvSpPr>
        <p:spPr>
          <a:xfrm>
            <a:off x="267335" y="4603750"/>
            <a:ext cx="1045210" cy="483870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Short-Term Memory</a:t>
            </a:r>
          </a:p>
        </p:txBody>
      </p:sp>
      <p:sp>
        <p:nvSpPr>
          <p:cNvPr id="47" name="圆角矩形 79"/>
          <p:cNvSpPr/>
          <p:nvPr/>
        </p:nvSpPr>
        <p:spPr>
          <a:xfrm>
            <a:off x="267335" y="5218430"/>
            <a:ext cx="1045210" cy="44386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Long-Term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Memory</a:t>
            </a:r>
          </a:p>
        </p:txBody>
      </p:sp>
      <p:sp>
        <p:nvSpPr>
          <p:cNvPr id="49" name="箭头: 右 27"/>
          <p:cNvSpPr/>
          <p:nvPr/>
        </p:nvSpPr>
        <p:spPr>
          <a:xfrm>
            <a:off x="1045660" y="171171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箭头: 右 27"/>
          <p:cNvSpPr/>
          <p:nvPr/>
        </p:nvSpPr>
        <p:spPr>
          <a:xfrm>
            <a:off x="1045660" y="1299596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565" y="839470"/>
            <a:ext cx="1545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Asynchrounous Threads Tasks</a:t>
            </a:r>
          </a:p>
        </p:txBody>
      </p:sp>
      <p:sp>
        <p:nvSpPr>
          <p:cNvPr id="53" name="圆角矩形 4"/>
          <p:cNvSpPr/>
          <p:nvPr/>
        </p:nvSpPr>
        <p:spPr>
          <a:xfrm>
            <a:off x="53340" y="2431415"/>
            <a:ext cx="1450340" cy="101981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Power Pools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Register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5410" y="2753378"/>
            <a:ext cx="6881180" cy="60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49" b="1"/>
              <a:t>世界水深火热，而             在买鞋</a:t>
            </a:r>
          </a:p>
        </p:txBody>
      </p:sp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>
            <a:off x="6448599" y="2479487"/>
            <a:ext cx="1476195" cy="11275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中国广告协会评始祖鸟“炸山”事件：深感惋惜 - 经济观察网 － 专业财经新闻网站">
            <a:extLst>
              <a:ext uri="{FF2B5EF4-FFF2-40B4-BE49-F238E27FC236}">
                <a16:creationId xmlns:a16="http://schemas.microsoft.com/office/drawing/2014/main" id="{C472A9C8-A852-28E5-456E-42E6735A8BC7}"/>
              </a:ext>
            </a:extLst>
          </p:cNvPr>
          <p:cNvPicPr>
            <a:picLocks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337" t="14021" r="4475"/>
          <a:stretch>
            <a:fillRect/>
          </a:stretch>
        </p:blipFill>
        <p:spPr>
          <a:xfrm>
            <a:off x="1" y="26582"/>
            <a:ext cx="12192000" cy="6820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EBB2C8-B626-3AA7-0A5A-9AF2EC97A6CD}"/>
              </a:ext>
            </a:extLst>
          </p:cNvPr>
          <p:cNvSpPr txBox="1"/>
          <p:nvPr/>
        </p:nvSpPr>
        <p:spPr>
          <a:xfrm>
            <a:off x="351327" y="276578"/>
            <a:ext cx="3195391" cy="95128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91" b="1">
                <a:solidFill>
                  <a:schemeClr val="bg1"/>
                </a:solidFill>
              </a:rPr>
              <a:t>IT’S NOT SPORT</a:t>
            </a:r>
            <a:r>
              <a:rPr lang="zh-CN" altLang="en-US" sz="2791" b="1">
                <a:solidFill>
                  <a:schemeClr val="bg1"/>
                </a:solidFill>
              </a:rPr>
              <a:t>，</a:t>
            </a:r>
            <a:r>
              <a:rPr lang="en-US" altLang="zh-CN" sz="2791" b="1">
                <a:solidFill>
                  <a:schemeClr val="bg1"/>
                </a:solidFill>
              </a:rPr>
              <a:t>IT</a:t>
            </a:r>
            <a:r>
              <a:rPr lang="zh-CN" altLang="en-US" sz="2791" b="1">
                <a:solidFill>
                  <a:schemeClr val="bg1"/>
                </a:solidFill>
              </a:rPr>
              <a:t>’</a:t>
            </a:r>
            <a:r>
              <a:rPr lang="en-US" altLang="zh-CN" sz="2791" b="1">
                <a:solidFill>
                  <a:schemeClr val="bg1"/>
                </a:solidFill>
              </a:rPr>
              <a:t>S A BATTLE</a:t>
            </a:r>
            <a:endParaRPr lang="zh-CN" altLang="en-US" sz="2791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10422-E9A4-5ADE-E4C6-DEF41849ED01}"/>
              </a:ext>
            </a:extLst>
          </p:cNvPr>
          <p:cNvSpPr txBox="1"/>
          <p:nvPr/>
        </p:nvSpPr>
        <p:spPr>
          <a:xfrm>
            <a:off x="8921553" y="609405"/>
            <a:ext cx="291912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6" b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Spring Summer 26 by AntaGonists</a:t>
            </a:r>
            <a:endParaRPr lang="zh-CN" altLang="en-US" sz="1256" b="1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82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57" y="447413"/>
            <a:ext cx="12440868" cy="463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57"/>
              </a:lnSpc>
            </a:pPr>
            <a:r>
              <a:rPr lang="en-US" sz="24322" b="1" spc="-2529">
                <a:solidFill>
                  <a:srgbClr val="D5D5D5"/>
                </a:solidFill>
                <a:latin typeface="Poppins Bold" panose="00000800000000000000" pitchFamily="2" charset="0"/>
                <a:ea typeface="Poppins Ultra-Bold"/>
                <a:cs typeface="Poppins Bold" panose="00000800000000000000" pitchFamily="2" charset="0"/>
                <a:sym typeface="Poppins Ultra-Bold"/>
              </a:rPr>
              <a:t>SS</a:t>
            </a:r>
            <a:r>
              <a:rPr lang="en-US" sz="23233" b="1" spc="-2529">
                <a:solidFill>
                  <a:srgbClr val="D5D5D5"/>
                </a:solidFill>
                <a:latin typeface="Poppins Bold" panose="00000800000000000000" pitchFamily="2" charset="0"/>
                <a:ea typeface="Poppins Ultra-Bold"/>
                <a:cs typeface="Poppins Bold" panose="00000800000000000000" pitchFamily="2" charset="0"/>
                <a:sym typeface="Poppins Ultra-Bold"/>
              </a:rPr>
              <a:t>26</a:t>
            </a:r>
          </a:p>
          <a:p>
            <a:pPr>
              <a:lnSpc>
                <a:spcPts val="15490"/>
              </a:lnSpc>
            </a:pPr>
            <a:r>
              <a:rPr lang="en-US" sz="19362" b="1" spc="-2014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生存指南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82213" y="919167"/>
            <a:ext cx="1882048" cy="18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8"/>
              </a:lnSpc>
            </a:pPr>
            <a:r>
              <a:rPr lang="en-US" sz="1388" b="1" spc="-83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ANTA</a:t>
            </a:r>
            <a:r>
              <a:rPr lang="en-US" sz="1388" b="1" spc="-8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 X ANTAGONISTS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82213" y="719666"/>
            <a:ext cx="1882048" cy="1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58"/>
              </a:lnSpc>
            </a:pPr>
            <a:r>
              <a:rPr 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 J</a:t>
            </a:r>
            <a:r>
              <a:rPr lang="en-US" altLang="zh-CN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,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82213" y="1152272"/>
            <a:ext cx="188204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58"/>
              </a:lnSpc>
            </a:pPr>
            <a:r>
              <a:rPr lang="zh-CN" alt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世界水深火热，而我们在买鞋</a:t>
            </a:r>
            <a:endParaRPr lang="en-US" sz="1058" b="1" spc="-63">
              <a:solidFill>
                <a:srgbClr val="D5D5D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3810FD-7877-BC9F-AE21-13E0BE806991}"/>
              </a:ext>
            </a:extLst>
          </p:cNvPr>
          <p:cNvSpPr txBox="1"/>
          <p:nvPr/>
        </p:nvSpPr>
        <p:spPr>
          <a:xfrm>
            <a:off x="701517" y="5820892"/>
            <a:ext cx="6956731" cy="521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91" b="1">
                <a:solidFill>
                  <a:schemeClr val="bg1"/>
                </a:solidFill>
              </a:rPr>
              <a:t>成为利维坦</a:t>
            </a:r>
            <a:r>
              <a:rPr lang="zh-CN" altLang="en-US" sz="2791">
                <a:solidFill>
                  <a:schemeClr val="bg1"/>
                </a:solidFill>
              </a:rPr>
              <a:t>：安踏</a:t>
            </a:r>
            <a:r>
              <a:rPr lang="en-US" altLang="zh-CN" sz="2791">
                <a:solidFill>
                  <a:schemeClr val="bg1"/>
                </a:solidFill>
              </a:rPr>
              <a:t>OS</a:t>
            </a:r>
            <a:r>
              <a:rPr lang="zh-CN" altLang="en-US" sz="2791">
                <a:solidFill>
                  <a:schemeClr val="bg1"/>
                </a:solidFill>
              </a:rPr>
              <a:t>战略管理展示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1B430-C317-8D7B-7680-D018D7F41FF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0" y="26582"/>
            <a:ext cx="12192000" cy="68048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40D765-8318-7C58-7F90-99792D5ED3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 rot="2020192">
            <a:off x="2669467" y="2653871"/>
            <a:ext cx="10488555" cy="72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03A98-0B2E-8A1F-D2B6-4A32C903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23" y="5458312"/>
            <a:ext cx="2029690" cy="1027867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AF5CB3B-75EB-1E94-E43C-13B4879E9F8C}"/>
              </a:ext>
            </a:extLst>
          </p:cNvPr>
          <p:cNvSpPr/>
          <p:nvPr/>
        </p:nvSpPr>
        <p:spPr>
          <a:xfrm>
            <a:off x="734659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056B23E-D7BC-C5AE-F7E9-2E7EA0C6B415}"/>
              </a:ext>
            </a:extLst>
          </p:cNvPr>
          <p:cNvSpPr/>
          <p:nvPr/>
        </p:nvSpPr>
        <p:spPr>
          <a:xfrm>
            <a:off x="802321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45E8839-07CC-C791-C703-82289AFCAB07}"/>
              </a:ext>
            </a:extLst>
          </p:cNvPr>
          <p:cNvSpPr/>
          <p:nvPr/>
        </p:nvSpPr>
        <p:spPr>
          <a:xfrm>
            <a:off x="908647" y="2852673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B72D606-F35F-9CCD-C719-147D1F82ADA9}"/>
              </a:ext>
            </a:extLst>
          </p:cNvPr>
          <p:cNvSpPr/>
          <p:nvPr/>
        </p:nvSpPr>
        <p:spPr>
          <a:xfrm>
            <a:off x="1014972" y="3260050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C45E080-BC3D-3A74-20C7-839837CBD25F}"/>
              </a:ext>
            </a:extLst>
          </p:cNvPr>
          <p:cNvSpPr/>
          <p:nvPr/>
        </p:nvSpPr>
        <p:spPr>
          <a:xfrm>
            <a:off x="447455" y="3679904"/>
            <a:ext cx="4862380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永别了，马赫临界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1083C-B151-5E84-3530-1B6790DAA41D}"/>
              </a:ext>
            </a:extLst>
          </p:cNvPr>
          <p:cNvSpPr txBox="1"/>
          <p:nvPr/>
        </p:nvSpPr>
        <p:spPr>
          <a:xfrm>
            <a:off x="1867182" y="5737083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50ADE-1973-612D-2DE5-87A56AD284CD}"/>
              </a:ext>
            </a:extLst>
          </p:cNvPr>
          <p:cNvSpPr txBox="1"/>
          <p:nvPr/>
        </p:nvSpPr>
        <p:spPr>
          <a:xfrm>
            <a:off x="1973508" y="584340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046E8-4E30-356F-AD6C-B22AFEEBB190}"/>
              </a:ext>
            </a:extLst>
          </p:cNvPr>
          <p:cNvSpPr txBox="1"/>
          <p:nvPr/>
        </p:nvSpPr>
        <p:spPr>
          <a:xfrm>
            <a:off x="4140613" y="6096549"/>
            <a:ext cx="1762068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74" b="1"/>
              <a:t>ANTAGONISTS</a:t>
            </a:r>
            <a:endParaRPr lang="zh-CN" altLang="en-US" sz="1674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35514-D6BA-547E-EF65-4A97A5C20F2B}"/>
              </a:ext>
            </a:extLst>
          </p:cNvPr>
          <p:cNvSpPr txBox="1"/>
          <p:nvPr/>
        </p:nvSpPr>
        <p:spPr>
          <a:xfrm>
            <a:off x="2479337" y="5790246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C8FA9-CC8E-D240-B263-AA3A9FA4BD21}"/>
              </a:ext>
            </a:extLst>
          </p:cNvPr>
          <p:cNvSpPr txBox="1"/>
          <p:nvPr/>
        </p:nvSpPr>
        <p:spPr>
          <a:xfrm>
            <a:off x="2250759" y="5917215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BCDE9C-0B9D-C915-FF88-E0B24892F2F2}"/>
              </a:ext>
            </a:extLst>
          </p:cNvPr>
          <p:cNvSpPr txBox="1"/>
          <p:nvPr/>
        </p:nvSpPr>
        <p:spPr>
          <a:xfrm>
            <a:off x="2895392" y="567021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</p:spTree>
    <p:extLst>
      <p:ext uri="{BB962C8B-B14F-4D97-AF65-F5344CB8AC3E}">
        <p14:creationId xmlns:p14="http://schemas.microsoft.com/office/powerpoint/2010/main" val="1566006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69C86B1D-8019-9494-0CDF-77435AF17CC7}"/>
              </a:ext>
            </a:extLst>
          </p:cNvPr>
          <p:cNvSpPr txBox="1"/>
          <p:nvPr/>
        </p:nvSpPr>
        <p:spPr>
          <a:xfrm>
            <a:off x="243068" y="138896"/>
            <a:ext cx="93870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微信推文：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某种物质</a:t>
            </a:r>
            <a:br>
              <a:rPr lang="en-US" altLang="zh-CN"/>
            </a:br>
            <a:r>
              <a:rPr lang="en-US" altLang="zh-CN">
                <a:hlinkClick r:id="rId2"/>
              </a:rPr>
              <a:t>https://v.xiumi.us/board/v5/6Dfai/573674521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MAYDAY</a:t>
            </a:r>
            <a:r>
              <a:rPr lang="zh-CN" altLang="en-US"/>
              <a:t>主题放映</a:t>
            </a:r>
            <a:r>
              <a:rPr lang="en-US" altLang="zh-CN"/>
              <a:t>-</a:t>
            </a:r>
            <a:r>
              <a:rPr lang="zh-CN" altLang="en-US"/>
              <a:t>概念推文</a:t>
            </a:r>
            <a:endParaRPr lang="en-US" altLang="zh-CN"/>
          </a:p>
          <a:p>
            <a:r>
              <a:rPr lang="en-US" altLang="zh-CN">
                <a:hlinkClick r:id="rId3"/>
              </a:rPr>
              <a:t>https://v.xiumius.cn/board/v5/6Dfai/620355592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92236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834</Words>
  <Application>Microsoft Office PowerPoint</Application>
  <PresentationFormat>Widescreen</PresentationFormat>
  <Paragraphs>271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48" baseType="lpstr">
      <vt:lpstr>等线</vt:lpstr>
      <vt:lpstr>Kozuka Gothic Pr6N B</vt:lpstr>
      <vt:lpstr>微软雅黑</vt:lpstr>
      <vt:lpstr>Noto Sans SC</vt:lpstr>
      <vt:lpstr>Ostrich Sans Black</vt:lpstr>
      <vt:lpstr>Poppins Ultra-Bold</vt:lpstr>
      <vt:lpstr>SimHei</vt:lpstr>
      <vt:lpstr>宋体</vt:lpstr>
      <vt:lpstr>汉仪铸字美心体简</vt:lpstr>
      <vt:lpstr>思源黑体</vt:lpstr>
      <vt:lpstr>思源黑体 Bold</vt:lpstr>
      <vt:lpstr>字由文艺黑</vt:lpstr>
      <vt:lpstr>Arial</vt:lpstr>
      <vt:lpstr>Arial Black</vt:lpstr>
      <vt:lpstr>Book Antiqua</vt:lpstr>
      <vt:lpstr>Calibri</vt:lpstr>
      <vt:lpstr>Poppins</vt:lpstr>
      <vt:lpstr>Poppins Bold</vt:lpstr>
      <vt:lpstr>Sitka Display</vt:lpstr>
      <vt:lpstr>Times New Roman</vt:lpstr>
      <vt:lpstr>WPS</vt:lpstr>
      <vt:lpstr>Office 主题​​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老鼠王症候群</dc:creator>
  <cp:lastModifiedBy>Noah Chou</cp:lastModifiedBy>
  <cp:revision>38</cp:revision>
  <dcterms:created xsi:type="dcterms:W3CDTF">2023-08-09T12:44:00Z</dcterms:created>
  <dcterms:modified xsi:type="dcterms:W3CDTF">2026-08-31T08:14:29Z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6B09AA9EC0574AA39D4839C7CB6A7724_12</vt:lpwstr>
  </property>
</Properties>
</file>